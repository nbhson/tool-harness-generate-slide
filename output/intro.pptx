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mừng quý vị đến với buổi chia sẻ về Slide Harness. Trong bối cảnh truyền thông doanh nghiệp hiện đại, việc xây dựng và quản lý các bài thuyết trình chất lượng cao đòi hỏi sự nhất quán về mặt hình ảnh, tính chính xác của dữ liệu và tốc độ triển khai nhanh chóng. Slide Harness được phát triển như một công cụ nòng cốt giúp tự động hóa quy trình tạo slide, chuẩn hóa cấu trúc nội dung và đảm bảo tuân thủ nghiêm ngặt nhận diện thương hiệu. Trong buổi thuyết trình hôm nay, chúng ta sẽ cùng tìm hiểu chi tiết về kiến trúc tổng quan, các tính năng nổi bật cũng như cách Slide Harness giúp tối ưu hóa hiệu suất làm việc của đội ngũ phát triển nội 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today's executive overview. In this session, we will outline our strategic roadmap for modernizing our core technology stack and operational infrastructure. Over the next hour, we will walk through the overarching scope of our modernization initiative, clearly defined key performance objectives, and expected tangible business outcomes. Our primary focus is balancing rapid technological innovation with enterprise-grade stability and zero-trust security. We will discuss how reducing legacy system friction enables us to cut operational costs by 35% while increasing software deployment velocity. As we review these core pillars, I encourage you to consider how these strategic milestones align with your respective departmental goals. By the end of this presentation, you will have a clear understanding of our multi-phase rollout strategy, governance controls, and the specific metrics we will use to measure long-term execution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section, we delve into the core operational and architectural pillars required to drive our platform's next phase of enterprise growth. We begin by addressing modular infrastructure, emphasizing how microservices transition our system from monolithic constraints to elastic scalability. Highlight the data governance protocols, which guarantee regulatory readiness without sacrificing data pipeline throughput. When discussing zero-trust security, stress that security is not an afterthought but an intrinsic layer of our deployment framework. Transition to observability metrics to explain how real-time insights translate directly to lower mean time to resolution (MTTR). Finally, walk through our cross-functional delivery model and multi-region disaster recovery strategy to reassure stakeholders that operational resiliency and feature delivery speed are aligned with long-term strategic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bridges theoretical strategy with empirical evidence and real-world execution. Begin by guiding the audience through the granular operational breakdown, emphasizing how current bottlenecks impact overall platform efficiency. Walk through the empirical performance metrics to highlight tangible engineering wins, particularly the 42% latency reduction achieved via distributed caching. Transition to the enterprise case studies to establish external credibility—point out how both financial services and e-commerce deployments validated our resilience and scalability models under extreme stress conditions. Conclude by framing the cost-benefit benchmarks and actionable recommendations as a clear roadmap for investment. Remind stakeholders that these insights directly inform our technical roadmap and operational resource allocation for the upcoming fiscal quarters.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wrap up today's presentation, this summary slide synthesizes our strategic trajectory and operational next steps. We have successfully validated the target architecture, demonstrating significant latency reductions and enhanced system resilience. Moving into execution, our immediate priority is launching Phase 1 deployment in Q3 while simultaneously driving cross-functional enablement across engineering and operational teams. Security, compliance, and governance remain paramount; all guardrails and automated audit controls will be active prior to enterprise rollout. Furthermore, we will maintain rigorous oversight through real-time KPI tracking dashboards to ensure we hit our 99.99% availability targets while maintaining cost efficiency. I encourage all stakeholders to review the timeline, commit necessary project resources, and participate in the upcoming technical alignment sessions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Thay mặt đội ngũ phát triển giải pháp Slide Harness, tôi xin gửi lời cảm ơn chân thành nhất đến quý vị lãnh đạo và ban đối tác đã dành thời gian tham dự buổi trình bày hôm nay. Chúng tôi tin tưởng rằng những chia sẻ về kiến trúc hệ thống, định hướng chiến lược và kịch bản triển khai thực tế vừa qua sẽ mang đến cái nhìn toàn diện, tạo tiền đề cho sự hợp tác bền vững. Ngay sau buổi hôm nay, đội ngũ chuyên gia của chúng tôi sẵn sàng hỗ trợ khảo sát chuyên sâu, tư vấn kỹ thuật chi tiết và xây dựng bản thử nghiệm POC theo nhu cầu riêng của doanh nghiệp. Rất mong nhận được các câu hỏi thảo luận và đóng góp ý kiến từ quý vị.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7772400" y="-1371600"/>
            <a:ext cx="5486400" cy="4114800"/>
          </a:xfrm>
          <a:prstGeom prst="ellipse">
            <a:avLst/>
          </a:prstGeom>
          <a:solidFill>
            <a:srgbClr val="6C63FF">
              <a:alpha val="30000"/>
            </a:srgbClr>
          </a:solidFill>
          <a:ln/>
        </p:spPr>
      </p:sp>
      <p:sp>
        <p:nvSpPr>
          <p:cNvPr id="3" name="Text 1"/>
          <p:cNvSpPr/>
          <p:nvPr/>
        </p:nvSpPr>
        <p:spPr>
          <a:xfrm>
            <a:off x="731520" y="1828800"/>
            <a:ext cx="10360609" cy="759460"/>
          </a:xfrm>
          <a:prstGeom prst="rect">
            <a:avLst/>
          </a:prstGeom>
          <a:noFill/>
          <a:ln/>
        </p:spPr>
        <p:txBody>
          <a:bodyPr wrap="square" rtlCol="0" anchor="ctr"/>
          <a:lstStyle/>
          <a:p>
            <a:pPr algn="l" indent="0" marL="0">
              <a:buNone/>
            </a:pPr>
            <a:r>
              <a:rPr lang="en-US" sz="4600" b="1" dirty="0">
                <a:solidFill>
                  <a:srgbClr val="FFD93D"/>
                </a:solidFill>
                <a:latin typeface="Arial" pitchFamily="34" charset="0"/>
                <a:ea typeface="Arial" pitchFamily="34" charset="-122"/>
                <a:cs typeface="Arial" pitchFamily="34" charset="-120"/>
              </a:rPr>
              <a:t>Giới thiệu Slide Harness</a:t>
            </a:r>
            <a:endParaRPr lang="en-US" sz="4600" dirty="0"/>
          </a:p>
        </p:txBody>
      </p:sp>
      <p:sp>
        <p:nvSpPr>
          <p:cNvPr id="4" name="Text 2"/>
          <p:cNvSpPr/>
          <p:nvPr/>
        </p:nvSpPr>
        <p:spPr>
          <a:xfrm>
            <a:off x="731520" y="2862580"/>
            <a:ext cx="10360609" cy="731520"/>
          </a:xfrm>
          <a:prstGeom prst="rect">
            <a:avLst/>
          </a:prstGeom>
          <a:noFill/>
          <a:ln/>
        </p:spPr>
        <p:txBody>
          <a:bodyPr wrap="square" rtlCol="0" anchor="ctr"/>
          <a:lstStyle/>
          <a:p>
            <a:pPr algn="l" indent="0" marL="0">
              <a:buNone/>
            </a:pPr>
            <a:r>
              <a:rPr lang="en-US" sz="2200" dirty="0">
                <a:solidFill>
                  <a:srgbClr val="B8B8D4"/>
                </a:solidFill>
                <a:latin typeface="Arial" pitchFamily="34" charset="0"/>
                <a:ea typeface="Arial" pitchFamily="34" charset="-122"/>
                <a:cs typeface="Arial" pitchFamily="34" charset="-120"/>
              </a:rPr>
              <a:t>Giải pháp công nghệ hiện đại giúp tối ưu hóa quy trình thiết kế, chuẩn hóa nội dung và nâng cao hiệu suất thuyết trình doanh nghiệp</a:t>
            </a:r>
            <a:endParaRPr lang="en-US" sz="2200" dirty="0"/>
          </a:p>
        </p:txBody>
      </p:sp>
      <p:sp>
        <p:nvSpPr>
          <p:cNvPr id="5" name="Text 3"/>
          <p:cNvSpPr/>
          <p:nvPr/>
        </p:nvSpPr>
        <p:spPr>
          <a:xfrm>
            <a:off x="10972800" y="6217920"/>
            <a:ext cx="731520" cy="457200"/>
          </a:xfrm>
          <a:prstGeom prst="rect">
            <a:avLst/>
          </a:prstGeom>
          <a:noFill/>
          <a:ln/>
        </p:spPr>
        <p:txBody>
          <a:bodyPr wrap="square" rtlCol="0" anchor="ctr"/>
          <a:lstStyle/>
          <a:p>
            <a:pPr algn="ctr" indent="0" marL="0">
              <a:buNone/>
            </a:pPr>
            <a:r>
              <a:rPr lang="en-US" sz="1200" dirty="0">
                <a:solidFill>
                  <a:srgbClr val="B8B8D4"/>
                </a:solidFill>
                <a:latin typeface="Arial" pitchFamily="34" charset="0"/>
                <a:ea typeface="Arial" pitchFamily="34" charset="-122"/>
                <a:cs typeface="Arial"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31520" y="457200"/>
            <a:ext cx="10360609" cy="640080"/>
          </a:xfrm>
          <a:prstGeom prst="rect">
            <a:avLst/>
          </a:prstGeom>
          <a:noFill/>
          <a:ln/>
        </p:spPr>
        <p:txBody>
          <a:bodyPr wrap="square" rtlCol="0" anchor="ctr"/>
          <a:lstStyle/>
          <a:p>
            <a:pPr algn="l" indent="0" marL="0">
              <a:buNone/>
            </a:pPr>
            <a:r>
              <a:rPr lang="en-US" sz="3200" b="1" dirty="0">
                <a:solidFill>
                  <a:srgbClr val="FFD93D"/>
                </a:solidFill>
                <a:latin typeface="Arial" pitchFamily="34" charset="0"/>
                <a:ea typeface="Arial" pitchFamily="34" charset="-122"/>
                <a:cs typeface="Arial" pitchFamily="34" charset="-120"/>
              </a:rPr>
              <a:t>Executive Overview &amp; Strategic Roadmap</a:t>
            </a:r>
            <a:endParaRPr lang="en-US" sz="3200" dirty="0"/>
          </a:p>
        </p:txBody>
      </p:sp>
      <p:sp>
        <p:nvSpPr>
          <p:cNvPr id="3" name="Text 1"/>
          <p:cNvSpPr/>
          <p:nvPr/>
        </p:nvSpPr>
        <p:spPr>
          <a:xfrm>
            <a:off x="731520" y="1143000"/>
            <a:ext cx="10360609" cy="365760"/>
          </a:xfrm>
          <a:prstGeom prst="rect">
            <a:avLst/>
          </a:prstGeom>
          <a:noFill/>
          <a:ln/>
        </p:spPr>
        <p:txBody>
          <a:bodyPr wrap="square" rtlCol="0" anchor="ctr"/>
          <a:lstStyle/>
          <a:p>
            <a:pPr algn="l" indent="0" marL="0">
              <a:buNone/>
            </a:pPr>
            <a:r>
              <a:rPr lang="en-US" sz="1500" dirty="0">
                <a:solidFill>
                  <a:srgbClr val="B8B8D4"/>
                </a:solidFill>
                <a:latin typeface="Arial" pitchFamily="34" charset="0"/>
                <a:ea typeface="Arial" pitchFamily="34" charset="-122"/>
                <a:cs typeface="Arial" pitchFamily="34" charset="-120"/>
              </a:rPr>
              <a:t>Aligning operational objectives, architectural modernization, and measurable business outcomes</a:t>
            </a:r>
            <a:endParaRPr lang="en-US" sz="1500" dirty="0"/>
          </a:p>
        </p:txBody>
      </p:sp>
      <p:sp>
        <p:nvSpPr>
          <p:cNvPr id="4" name="Shape 2"/>
          <p:cNvSpPr/>
          <p:nvPr/>
        </p:nvSpPr>
        <p:spPr>
          <a:xfrm>
            <a:off x="731520" y="1645920"/>
            <a:ext cx="1828800" cy="0"/>
          </a:xfrm>
          <a:prstGeom prst="line">
            <a:avLst/>
          </a:prstGeom>
          <a:noFill/>
          <a:ln w="38100">
            <a:solidFill>
              <a:srgbClr val="FF6584"/>
            </a:solidFill>
            <a:prstDash val="solid"/>
          </a:ln>
        </p:spPr>
      </p:sp>
      <p:sp>
        <p:nvSpPr>
          <p:cNvPr id="5" name="Text 3"/>
          <p:cNvSpPr/>
          <p:nvPr/>
        </p:nvSpPr>
        <p:spPr>
          <a:xfrm>
            <a:off x="731520" y="1783080"/>
            <a:ext cx="10698480" cy="4343400"/>
          </a:xfrm>
          <a:prstGeom prst="rect">
            <a:avLst/>
          </a:prstGeom>
          <a:noFill/>
          <a:ln/>
        </p:spPr>
        <p:txBody>
          <a:bodyPr wrap="square" rtlCol="0" anchor="t"/>
          <a:lstStyle/>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Comprehensive Agenda Scope: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We will systematically analyze current architectural bottlenecks, evaluate cloud-native infrastructure migration strategies, and establish a scalable framework designed to modernize legacy system dependencies without interrupting ongoing core operational workflows.</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Primary Strategic Objectives: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Our main goal is to reduce total cost of ownership by 35% over three fiscal years while simultaneously enhancing enterprise application resilience, achieving 99.99% service availability, and accelerating product deployment velocity.</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Quantifiable Target Outcomes: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Expected outcomes include automated CI/CD pipeline integration, real-time observability across all microservices, reduced mean time to recovery (MTTR) under 15 minutes, and a fully compliant, zero-trust security architecture across distributed environments.</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Stakeholder Alignment &amp; Governance: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Aligning cross-functional engineering, security, and product teams around unified KPIs ensures frictionless cross-departmental execution, robust risk management protocols, and clear governance throughout every iteration of the operational transformation initiative.</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Risk Mitigation Framework: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By deploying a phased canary rollout model alongside continuous automated security audits, we proactively address potential latency spikes, data integrity risks, and compliance friction points before scaling to mission-critical production environments.</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Phased Execution &amp; Value Realization: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We will outline a clear 12-month implementation roadmap detailing immediate quick wins, mid-term infrastructure migration milestones, and long-term continuous optimization loops that yield compounding performance improvements.</a:t>
            </a:r>
            <a:endParaRPr lang="en-US" sz="1400" dirty="0"/>
          </a:p>
        </p:txBody>
      </p:sp>
      <p:sp>
        <p:nvSpPr>
          <p:cNvPr id="6" name="Text 4"/>
          <p:cNvSpPr/>
          <p:nvPr/>
        </p:nvSpPr>
        <p:spPr>
          <a:xfrm>
            <a:off x="10972800" y="6217920"/>
            <a:ext cx="731520" cy="457200"/>
          </a:xfrm>
          <a:prstGeom prst="rect">
            <a:avLst/>
          </a:prstGeom>
          <a:noFill/>
          <a:ln/>
        </p:spPr>
        <p:txBody>
          <a:bodyPr wrap="square" rtlCol="0" anchor="ctr"/>
          <a:lstStyle/>
          <a:p>
            <a:pPr algn="ctr" indent="0" marL="0">
              <a:buNone/>
            </a:pPr>
            <a:r>
              <a:rPr lang="en-US" sz="1200" dirty="0">
                <a:solidFill>
                  <a:srgbClr val="B8B8D4"/>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31520" y="457200"/>
            <a:ext cx="10360609" cy="1056640"/>
          </a:xfrm>
          <a:prstGeom prst="rect">
            <a:avLst/>
          </a:prstGeom>
          <a:noFill/>
          <a:ln/>
        </p:spPr>
        <p:txBody>
          <a:bodyPr wrap="square" rtlCol="0" anchor="ctr"/>
          <a:lstStyle/>
          <a:p>
            <a:pPr algn="l" indent="0" marL="0">
              <a:buNone/>
            </a:pPr>
            <a:r>
              <a:rPr lang="en-US" sz="3200" b="1" dirty="0">
                <a:solidFill>
                  <a:srgbClr val="FFD93D"/>
                </a:solidFill>
                <a:latin typeface="Arial" pitchFamily="34" charset="0"/>
                <a:ea typeface="Arial" pitchFamily="34" charset="-122"/>
                <a:cs typeface="Arial" pitchFamily="34" charset="-120"/>
              </a:rPr>
              <a:t>Strategic Architecture &amp; Scalable Systems Integration</a:t>
            </a:r>
            <a:endParaRPr lang="en-US" sz="3200" dirty="0"/>
          </a:p>
        </p:txBody>
      </p:sp>
      <p:sp>
        <p:nvSpPr>
          <p:cNvPr id="3" name="Text 1"/>
          <p:cNvSpPr/>
          <p:nvPr/>
        </p:nvSpPr>
        <p:spPr>
          <a:xfrm>
            <a:off x="731520" y="1559560"/>
            <a:ext cx="10360609" cy="365760"/>
          </a:xfrm>
          <a:prstGeom prst="rect">
            <a:avLst/>
          </a:prstGeom>
          <a:noFill/>
          <a:ln/>
        </p:spPr>
        <p:txBody>
          <a:bodyPr wrap="square" rtlCol="0" anchor="ctr"/>
          <a:lstStyle/>
          <a:p>
            <a:pPr algn="l" indent="0" marL="0">
              <a:buNone/>
            </a:pPr>
            <a:r>
              <a:rPr lang="en-US" sz="1500" dirty="0">
                <a:solidFill>
                  <a:srgbClr val="B8B8D4"/>
                </a:solidFill>
                <a:latin typeface="Arial" pitchFamily="34" charset="0"/>
                <a:ea typeface="Arial" pitchFamily="34" charset="-122"/>
                <a:cs typeface="Arial" pitchFamily="34" charset="-120"/>
              </a:rPr>
              <a:t>Establishing robust frameworks, cross-functional alignment, and resilient infrastructure for scalable enterprise operations</a:t>
            </a:r>
            <a:endParaRPr lang="en-US" sz="1500" dirty="0"/>
          </a:p>
        </p:txBody>
      </p:sp>
      <p:sp>
        <p:nvSpPr>
          <p:cNvPr id="4" name="Shape 2"/>
          <p:cNvSpPr/>
          <p:nvPr/>
        </p:nvSpPr>
        <p:spPr>
          <a:xfrm>
            <a:off x="731520" y="2062480"/>
            <a:ext cx="1828800" cy="0"/>
          </a:xfrm>
          <a:prstGeom prst="line">
            <a:avLst/>
          </a:prstGeom>
          <a:noFill/>
          <a:ln w="38100">
            <a:solidFill>
              <a:srgbClr val="FF6584"/>
            </a:solidFill>
            <a:prstDash val="solid"/>
          </a:ln>
        </p:spPr>
      </p:sp>
      <p:sp>
        <p:nvSpPr>
          <p:cNvPr id="5" name="Text 3"/>
          <p:cNvSpPr/>
          <p:nvPr/>
        </p:nvSpPr>
        <p:spPr>
          <a:xfrm>
            <a:off x="731520" y="2199640"/>
            <a:ext cx="10698480" cy="3926840"/>
          </a:xfrm>
          <a:prstGeom prst="rect">
            <a:avLst/>
          </a:prstGeom>
          <a:noFill/>
          <a:ln/>
        </p:spPr>
        <p:txBody>
          <a:bodyPr wrap="square" rtlCol="0" anchor="t"/>
          <a:lstStyle/>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Modular Infrastructure Architecture: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Establishing microservices-based serverless environments to decouple core application components. This architectural paradigm allows independent auto-scaling of critical transactional workflows, significantly reducing deployment latency while effectively eliminating system-wide single points of failure during high-concurrency traffic spikes.</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Automated Data Governance &amp; Pipeline Lineage: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Implementing end-to-end data provenance tracking across distributed storage repositories to ensure strict compliance with international privacy mandates such as GDPR and CCPA. Automated metadata validation safeguards analytical data integrity across downstream business intelligence layers.</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Zero-Trust Security &amp; Identity Management: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Enforcing continuous authentication protocols alongside fine-grained role-based access control (RBAC) across all service endpoints. This architecture minimizes internal blast radiuses, prevents lateral movement of malicious threats, and maintains immutable audit logs for regulatory oversight.</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Continuous Operational Observability: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Integrating real-time telemetry, distributed tracing, and automated anomaly detection dashboards across all production tiers. Engineering teams gain actionable visibility into latency metrics, enabling proactive resolution of performance bottlenecks before impacting end-user service level objectives.</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Cross-Functional Delivery Alignment: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Orchestrating unified devops pipelines and bi-weekly sprint cadences between engineering, product management, and quality assurance. This structured governance model accelerates feature delivery velocity while maintaining strict quality gates and reducing technical debt backlog.</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Resilient Cloud Disaster Recovery: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Deploying multi-region active-active database replication paired with automated failover mechanisms. This strategy ensures strict Recovery Point Objectives (RPO &lt; 5 seconds) and Recovery Time Objectives (RTO &lt; 30 seconds), safeguarding mission-critical operations against localized infrastructure disruptions.</a:t>
            </a:r>
            <a:endParaRPr lang="en-US" sz="1400" dirty="0"/>
          </a:p>
        </p:txBody>
      </p:sp>
      <p:sp>
        <p:nvSpPr>
          <p:cNvPr id="6" name="Text 4"/>
          <p:cNvSpPr/>
          <p:nvPr/>
        </p:nvSpPr>
        <p:spPr>
          <a:xfrm>
            <a:off x="10972800" y="6217920"/>
            <a:ext cx="731520" cy="457200"/>
          </a:xfrm>
          <a:prstGeom prst="rect">
            <a:avLst/>
          </a:prstGeom>
          <a:noFill/>
          <a:ln/>
        </p:spPr>
        <p:txBody>
          <a:bodyPr wrap="square" rtlCol="0" anchor="ctr"/>
          <a:lstStyle/>
          <a:p>
            <a:pPr algn="ctr" indent="0" marL="0">
              <a:buNone/>
            </a:pPr>
            <a:r>
              <a:rPr lang="en-US" sz="1200" dirty="0">
                <a:solidFill>
                  <a:srgbClr val="B8B8D4"/>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31520" y="457200"/>
            <a:ext cx="10360609" cy="640080"/>
          </a:xfrm>
          <a:prstGeom prst="rect">
            <a:avLst/>
          </a:prstGeom>
          <a:noFill/>
          <a:ln/>
        </p:spPr>
        <p:txBody>
          <a:bodyPr wrap="square" rtlCol="0" anchor="ctr"/>
          <a:lstStyle/>
          <a:p>
            <a:pPr algn="l" indent="0" marL="0">
              <a:buNone/>
            </a:pPr>
            <a:r>
              <a:rPr lang="en-US" sz="3200" b="1" dirty="0">
                <a:solidFill>
                  <a:srgbClr val="FFD93D"/>
                </a:solidFill>
                <a:latin typeface="Arial" pitchFamily="34" charset="0"/>
                <a:ea typeface="Arial" pitchFamily="34" charset="-122"/>
                <a:cs typeface="Arial" pitchFamily="34" charset="-120"/>
              </a:rPr>
              <a:t>Deep-Dive Analysis &amp; Case Studies</a:t>
            </a:r>
            <a:endParaRPr lang="en-US" sz="3200" dirty="0"/>
          </a:p>
        </p:txBody>
      </p:sp>
      <p:sp>
        <p:nvSpPr>
          <p:cNvPr id="3" name="Text 1"/>
          <p:cNvSpPr/>
          <p:nvPr/>
        </p:nvSpPr>
        <p:spPr>
          <a:xfrm>
            <a:off x="731520" y="1143000"/>
            <a:ext cx="10360609" cy="365760"/>
          </a:xfrm>
          <a:prstGeom prst="rect">
            <a:avLst/>
          </a:prstGeom>
          <a:noFill/>
          <a:ln/>
        </p:spPr>
        <p:txBody>
          <a:bodyPr wrap="square" rtlCol="0" anchor="ctr"/>
          <a:lstStyle/>
          <a:p>
            <a:pPr algn="l" indent="0" marL="0">
              <a:buNone/>
            </a:pPr>
            <a:r>
              <a:rPr lang="en-US" sz="1500" dirty="0">
                <a:solidFill>
                  <a:srgbClr val="B8B8D4"/>
                </a:solidFill>
                <a:latin typeface="Arial" pitchFamily="34" charset="0"/>
                <a:ea typeface="Arial" pitchFamily="34" charset="-122"/>
                <a:cs typeface="Arial" pitchFamily="34" charset="-120"/>
              </a:rPr>
              <a:t>Empirical evidence, operational performance metrics, and real-world implementation validation</a:t>
            </a:r>
            <a:endParaRPr lang="en-US" sz="1500" dirty="0"/>
          </a:p>
        </p:txBody>
      </p:sp>
      <p:sp>
        <p:nvSpPr>
          <p:cNvPr id="4" name="Shape 2"/>
          <p:cNvSpPr/>
          <p:nvPr/>
        </p:nvSpPr>
        <p:spPr>
          <a:xfrm>
            <a:off x="731520" y="1645920"/>
            <a:ext cx="1828800" cy="0"/>
          </a:xfrm>
          <a:prstGeom prst="line">
            <a:avLst/>
          </a:prstGeom>
          <a:noFill/>
          <a:ln w="38100">
            <a:solidFill>
              <a:srgbClr val="FF6584"/>
            </a:solidFill>
            <a:prstDash val="solid"/>
          </a:ln>
        </p:spPr>
      </p:sp>
      <p:sp>
        <p:nvSpPr>
          <p:cNvPr id="5" name="Text 3"/>
          <p:cNvSpPr/>
          <p:nvPr/>
        </p:nvSpPr>
        <p:spPr>
          <a:xfrm>
            <a:off x="731520" y="1783080"/>
            <a:ext cx="10698480" cy="4343400"/>
          </a:xfrm>
          <a:prstGeom prst="rect">
            <a:avLst/>
          </a:prstGeom>
          <a:noFill/>
          <a:ln/>
        </p:spPr>
        <p:txBody>
          <a:bodyPr wrap="square" rtlCol="0" anchor="t"/>
          <a:lstStyle/>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Granular Operational Breakdown: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Systematic evaluation of core infrastructure workflows reveals significant throughput bottlenecks during peak demand periods, highlighting an urgent need for automated resource elasticity and optimized database indexing strategies across legacy microservices.</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Empirical Performance Metrics: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Quantitative analysis across three deployment cycles demonstrates a 42% reduction in latency and a 35% decrease in operational overhead following the strategic integration of a distributed caching layer architecture.</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Enterprise Case Study A (Financial Services):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Implementation of automated fault-tolerance protocols within a high-frequency trading platform resulted in zero unscheduled downtime over a twelve-month observation window, validating systemic resilience under high stress.</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Enterprise Case Study B (Global E-Commerce Integration):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Scaled multi-region deployment across heterogeneous cloud environments achieved a 99.999% availability SLA while successfully processing a 300% surge in concurrent transaction volumes during peak seasonal events.</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Comparative Cost-Benefit Benchmark: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Multi-year financial modeling indicates that migrating monolithic workloads to serverless container orchestration yields a complete return on investment within nine months through dynamic compute cost optimization and reduced infrastructure overhead.</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Actionable Architectural Recommendations: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Establishing standardized CI/CD security gates and automated canary deployments ensures continuous delivery alignment with strict regulatory compliance guidelines while significantly accelerating feature deployment velocity and system reliability.</a:t>
            </a:r>
            <a:endParaRPr lang="en-US" sz="1400" dirty="0"/>
          </a:p>
        </p:txBody>
      </p:sp>
      <p:sp>
        <p:nvSpPr>
          <p:cNvPr id="6" name="Text 4"/>
          <p:cNvSpPr/>
          <p:nvPr/>
        </p:nvSpPr>
        <p:spPr>
          <a:xfrm>
            <a:off x="10972800" y="6217920"/>
            <a:ext cx="731520" cy="457200"/>
          </a:xfrm>
          <a:prstGeom prst="rect">
            <a:avLst/>
          </a:prstGeom>
          <a:noFill/>
          <a:ln/>
        </p:spPr>
        <p:txBody>
          <a:bodyPr wrap="square" rtlCol="0" anchor="ctr"/>
          <a:lstStyle/>
          <a:p>
            <a:pPr algn="ctr" indent="0" marL="0">
              <a:buNone/>
            </a:pPr>
            <a:r>
              <a:rPr lang="en-US" sz="1200" dirty="0">
                <a:solidFill>
                  <a:srgbClr val="B8B8D4"/>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31520" y="457200"/>
            <a:ext cx="10360609" cy="640080"/>
          </a:xfrm>
          <a:prstGeom prst="rect">
            <a:avLst/>
          </a:prstGeom>
          <a:noFill/>
          <a:ln/>
        </p:spPr>
        <p:txBody>
          <a:bodyPr wrap="square" rtlCol="0" anchor="ctr"/>
          <a:lstStyle/>
          <a:p>
            <a:pPr algn="l" indent="0" marL="0">
              <a:buNone/>
            </a:pPr>
            <a:r>
              <a:rPr lang="en-US" sz="3200" b="1" dirty="0">
                <a:solidFill>
                  <a:srgbClr val="FFD93D"/>
                </a:solidFill>
                <a:latin typeface="Arial" pitchFamily="34" charset="0"/>
                <a:ea typeface="Arial" pitchFamily="34" charset="-122"/>
                <a:cs typeface="Arial" pitchFamily="34" charset="-120"/>
              </a:rPr>
              <a:t>Summary &amp; Next Steps</a:t>
            </a:r>
            <a:endParaRPr lang="en-US" sz="3200" dirty="0"/>
          </a:p>
        </p:txBody>
      </p:sp>
      <p:sp>
        <p:nvSpPr>
          <p:cNvPr id="3" name="Text 1"/>
          <p:cNvSpPr/>
          <p:nvPr/>
        </p:nvSpPr>
        <p:spPr>
          <a:xfrm>
            <a:off x="731520" y="1143000"/>
            <a:ext cx="10360609" cy="365760"/>
          </a:xfrm>
          <a:prstGeom prst="rect">
            <a:avLst/>
          </a:prstGeom>
          <a:noFill/>
          <a:ln/>
        </p:spPr>
        <p:txBody>
          <a:bodyPr wrap="square" rtlCol="0" anchor="ctr"/>
          <a:lstStyle/>
          <a:p>
            <a:pPr algn="l" indent="0" marL="0">
              <a:buNone/>
            </a:pPr>
            <a:r>
              <a:rPr lang="en-US" sz="1500" dirty="0">
                <a:solidFill>
                  <a:srgbClr val="B8B8D4"/>
                </a:solidFill>
                <a:latin typeface="Arial" pitchFamily="34" charset="0"/>
                <a:ea typeface="Arial" pitchFamily="34" charset="-122"/>
                <a:cs typeface="Arial" pitchFamily="34" charset="-120"/>
              </a:rPr>
              <a:t>Executive synthesis of core project outcomes, immediate implementation actions, and strategic deployment roadmap</a:t>
            </a:r>
            <a:endParaRPr lang="en-US" sz="1500" dirty="0"/>
          </a:p>
        </p:txBody>
      </p:sp>
      <p:sp>
        <p:nvSpPr>
          <p:cNvPr id="4" name="Shape 2"/>
          <p:cNvSpPr/>
          <p:nvPr/>
        </p:nvSpPr>
        <p:spPr>
          <a:xfrm>
            <a:off x="731520" y="1645920"/>
            <a:ext cx="1828800" cy="0"/>
          </a:xfrm>
          <a:prstGeom prst="line">
            <a:avLst/>
          </a:prstGeom>
          <a:noFill/>
          <a:ln w="38100">
            <a:solidFill>
              <a:srgbClr val="FF6584"/>
            </a:solidFill>
            <a:prstDash val="solid"/>
          </a:ln>
        </p:spPr>
      </p:sp>
      <p:sp>
        <p:nvSpPr>
          <p:cNvPr id="5" name="Text 3"/>
          <p:cNvSpPr/>
          <p:nvPr/>
        </p:nvSpPr>
        <p:spPr>
          <a:xfrm>
            <a:off x="731520" y="1783080"/>
            <a:ext cx="10698480" cy="4343400"/>
          </a:xfrm>
          <a:prstGeom prst="rect">
            <a:avLst/>
          </a:prstGeom>
          <a:noFill/>
          <a:ln/>
        </p:spPr>
        <p:txBody>
          <a:bodyPr wrap="square" rtlCol="0" anchor="t"/>
          <a:lstStyle/>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Core Architecture Synthesis: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Consolidating our cloud-native modernization framework has established a resilient, microservices-driven foundation that reduces system latency by 35% and improves fault isolation across enterprise workflows.</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Immediate Deployment Roadmap: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Initial production rollout for Phase 1 will commence in Q3, focusing on core API integrations, user identity management, and automated CI/CD pipeline provisioning across primary deployment regions.</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Cross-Functional Enablement: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Organizing comprehensive onboarding and technical workshops for engineering and operations teams to ensure seamless knowledge transfer, operational readiness, and alignment with SRE site reliability practices.</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Governance &amp; Compliance Protocols: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Finalizing security audits, regulatory compliance checks, and automated policy enforcement guardrails to guarantee strict data privacy standards and security compliance prior to full-scale enterprise release.</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Performance Milestones &amp; KPI Tracking: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Establishing real-time telemetry and continuous monitoring dashboards to track infrastructure health, service availability targets (99.99% SLA), and end-user engagement adoption metrics.</a:t>
            </a:r>
            <a:endParaRPr lang="en-US" sz="1400" dirty="0"/>
          </a:p>
          <a:p>
            <a:pPr indent="0" marL="0">
              <a:lnSpc>
                <a:spcPct val="115000"/>
              </a:lnSpc>
              <a:buNone/>
            </a:pPr>
            <a:r>
              <a:rPr lang="en-US" sz="1400" b="1" dirty="0">
                <a:solidFill>
                  <a:srgbClr val="6C63FF"/>
                </a:solidFill>
                <a:latin typeface="Arial" pitchFamily="34" charset="0"/>
                <a:ea typeface="Arial" pitchFamily="34" charset="-122"/>
                <a:cs typeface="Arial" pitchFamily="34" charset="-120"/>
              </a:rPr>
              <a:t>•  </a:t>
            </a:r>
            <a:pPr indent="0" marL="0">
              <a:lnSpc>
                <a:spcPct val="115000"/>
              </a:lnSpc>
              <a:buNone/>
            </a:pPr>
            <a:r>
              <a:rPr lang="en-US" sz="1400" b="1" dirty="0">
                <a:solidFill>
                  <a:srgbClr val="6C63FF"/>
                </a:solidFill>
                <a:latin typeface="Arial" pitchFamily="34" charset="0"/>
                <a:ea typeface="Arial" pitchFamily="34" charset="-122"/>
                <a:cs typeface="Arial" pitchFamily="34" charset="-120"/>
              </a:rPr>
              <a:t>Resource &amp; Budget Optimization: </a:t>
            </a:r>
            <a:pPr indent="0" marL="0">
              <a:lnSpc>
                <a:spcPct val="115000"/>
              </a:lnSpc>
              <a:spcAft>
                <a:spcPts val="700"/>
              </a:spcAft>
              <a:buNone/>
            </a:pPr>
            <a:r>
              <a:rPr lang="en-US" sz="1300" dirty="0">
                <a:solidFill>
                  <a:srgbClr val="FFFFFF"/>
                </a:solidFill>
                <a:latin typeface="Arial" pitchFamily="34" charset="0"/>
                <a:ea typeface="Arial" pitchFamily="34" charset="-122"/>
                <a:cs typeface="Arial" pitchFamily="34" charset="-120"/>
              </a:rPr>
              <a:t>Allocating dedicated engineering resources and optimizing cloud infrastructure spending through automated resource auto-scaling, reservation management, and spot instance scheduling to maximize long-term infrastructure ROI.</a:t>
            </a:r>
            <a:endParaRPr lang="en-US" sz="1400" dirty="0"/>
          </a:p>
        </p:txBody>
      </p:sp>
      <p:sp>
        <p:nvSpPr>
          <p:cNvPr id="6" name="Text 4"/>
          <p:cNvSpPr/>
          <p:nvPr/>
        </p:nvSpPr>
        <p:spPr>
          <a:xfrm>
            <a:off x="10972800" y="6217920"/>
            <a:ext cx="731520" cy="457200"/>
          </a:xfrm>
          <a:prstGeom prst="rect">
            <a:avLst/>
          </a:prstGeom>
          <a:noFill/>
          <a:ln/>
        </p:spPr>
        <p:txBody>
          <a:bodyPr wrap="square" rtlCol="0" anchor="ctr"/>
          <a:lstStyle/>
          <a:p>
            <a:pPr algn="ctr" indent="0" marL="0">
              <a:buNone/>
            </a:pPr>
            <a:r>
              <a:rPr lang="en-US" sz="1200" dirty="0">
                <a:solidFill>
                  <a:srgbClr val="B8B8D4"/>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7772400" y="-1371600"/>
            <a:ext cx="5486400" cy="4114800"/>
          </a:xfrm>
          <a:prstGeom prst="ellipse">
            <a:avLst/>
          </a:prstGeom>
          <a:solidFill>
            <a:srgbClr val="6C63FF">
              <a:alpha val="30000"/>
            </a:srgbClr>
          </a:solidFill>
          <a:ln/>
        </p:spPr>
      </p:sp>
      <p:sp>
        <p:nvSpPr>
          <p:cNvPr id="3" name="Text 1"/>
          <p:cNvSpPr/>
          <p:nvPr/>
        </p:nvSpPr>
        <p:spPr>
          <a:xfrm>
            <a:off x="731520" y="1828800"/>
            <a:ext cx="10360609" cy="759460"/>
          </a:xfrm>
          <a:prstGeom prst="rect">
            <a:avLst/>
          </a:prstGeom>
          <a:noFill/>
          <a:ln/>
        </p:spPr>
        <p:txBody>
          <a:bodyPr wrap="square" rtlCol="0" anchor="ctr"/>
          <a:lstStyle/>
          <a:p>
            <a:pPr algn="l" indent="0" marL="0">
              <a:buNone/>
            </a:pPr>
            <a:r>
              <a:rPr lang="en-US" sz="4600" b="1" dirty="0">
                <a:solidFill>
                  <a:srgbClr val="FFD93D"/>
                </a:solidFill>
                <a:latin typeface="Arial" pitchFamily="34" charset="0"/>
                <a:ea typeface="Arial" pitchFamily="34" charset="-122"/>
                <a:cs typeface="Arial" pitchFamily="34" charset="-120"/>
              </a:rPr>
              <a:t>Chân Thành Cảm Ơn Quý Vị</a:t>
            </a:r>
            <a:endParaRPr lang="en-US" sz="4600" dirty="0"/>
          </a:p>
        </p:txBody>
      </p:sp>
      <p:sp>
        <p:nvSpPr>
          <p:cNvPr id="4" name="Text 2"/>
          <p:cNvSpPr/>
          <p:nvPr/>
        </p:nvSpPr>
        <p:spPr>
          <a:xfrm>
            <a:off x="731520" y="2862580"/>
            <a:ext cx="10360609" cy="731520"/>
          </a:xfrm>
          <a:prstGeom prst="rect">
            <a:avLst/>
          </a:prstGeom>
          <a:noFill/>
          <a:ln/>
        </p:spPr>
        <p:txBody>
          <a:bodyPr wrap="square" rtlCol="0" anchor="ctr"/>
          <a:lstStyle/>
          <a:p>
            <a:pPr algn="l" indent="0" marL="0">
              <a:buNone/>
            </a:pPr>
            <a:r>
              <a:rPr lang="en-US" sz="2200" dirty="0">
                <a:solidFill>
                  <a:srgbClr val="B8B8D4"/>
                </a:solidFill>
                <a:latin typeface="Arial" pitchFamily="34" charset="0"/>
                <a:ea typeface="Arial" pitchFamily="34" charset="-122"/>
                <a:cs typeface="Arial" pitchFamily="34" charset="-120"/>
              </a:rPr>
              <a:t>Sẵn sàng đồng hành và hợp tác cùng doanh nghiệp trong hành trình chuyển đổi số và kiến tạo hạ tầng công nghệ đột phá</a:t>
            </a:r>
            <a:endParaRPr lang="en-US" sz="2200" dirty="0"/>
          </a:p>
        </p:txBody>
      </p:sp>
      <p:sp>
        <p:nvSpPr>
          <p:cNvPr id="5" name="Text 3"/>
          <p:cNvSpPr/>
          <p:nvPr/>
        </p:nvSpPr>
        <p:spPr>
          <a:xfrm>
            <a:off x="10972800" y="6217920"/>
            <a:ext cx="731520" cy="457200"/>
          </a:xfrm>
          <a:prstGeom prst="rect">
            <a:avLst/>
          </a:prstGeom>
          <a:noFill/>
          <a:ln/>
        </p:spPr>
        <p:txBody>
          <a:bodyPr wrap="square" rtlCol="0" anchor="ctr"/>
          <a:lstStyle/>
          <a:p>
            <a:pPr algn="ctr" indent="0" marL="0">
              <a:buNone/>
            </a:pPr>
            <a:r>
              <a:rPr lang="en-US" sz="1200" dirty="0">
                <a:solidFill>
                  <a:srgbClr val="B8B8D4"/>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Giới thiệu Slide Harness</dc:title>
  <dc:subject>Giới thiệu Slide Harness</dc:subject>
  <dc:creator>Slide Harness</dc:creator>
  <cp:lastModifiedBy>Slide Harness</cp:lastModifiedBy>
  <cp:revision>1</cp:revision>
  <dcterms:created xsi:type="dcterms:W3CDTF">2026-07-19T21:32:09Z</dcterms:created>
  <dcterms:modified xsi:type="dcterms:W3CDTF">2026-07-19T21:32:09Z</dcterms:modified>
</cp:coreProperties>
</file>