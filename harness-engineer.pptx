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Tỷ Lệ Giải Quyết Thành Công (Success Rate)</c:v>
                </c:pt>
              </c:strCache>
            </c:strRef>
          </c:tx>
          <c:spPr>
            <a:solidFill>
              <a:srgbClr val="94A3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94A3B8"/>
              </a:solidFill>
              <a:effectLst/>
            </c:spPr>
          </c:dPt>
          <c:dPt>
            <c:idx val="1"/>
            <c:invertIfNegative val="0"/>
            <c:bubble3D val="0"/>
            <c:spPr>
              <a:solidFill>
                <a:srgbClr val="10B981"/>
              </a:solidFill>
              <a:effectLst/>
            </c:spPr>
          </c:dPt>
          <c:cat>
            <c:multiLvlStrRef>
              <c:f>Sheet1!$A$2:$A$3</c:f>
              <c:multiLvlStrCache>
                <c:ptCount val="2"/>
                <c:lvl>
                  <c:pt idx="0">
                    <c:v>Baseline (Không Harness)</c:v>
                  </c:pt>
                  <c:pt idx="1">
                    <c:v>Harness Tối Ưu</c:v>
                  </c:pt>
                </c:lvl>
              </c:multiLvlStrCache>
            </c:multiLvlStrRef>
          </c:cat>
          <c:val>
            <c:numRef>
              <c:f>Sheet1!$B$2:$B$3</c:f>
              <c:numCache>
                <c:formatCode>General</c:formatCode>
                <c:ptCount val="2"/>
                <c:pt idx="0">
                  <c:v>12.5</c:v>
                </c:pt>
                <c:pt idx="1">
                  <c:v>20.5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Harness Engineering - Kỹ Thuật Thiết Kế Hệ Thống Xung Quanh AI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Harness Engineering - Kỹ Thuật Thiết Kế Hệ Thống Xung Quanh AI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Mục Lục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Mục Lục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Mục Lục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của slide này là thiết lập bối cảnh cho toàn bộ bài thuyết trình bằng cách nêu bật một thực tế: mô hình AI mạnh mẽ (như GPT-4 hay Gemini) chỉ là điều kiện cần chứ chưa đủ. Người trình bày cần nhấn mạnh vào 'Nghịch lý trong hiệu suất ứng dụng' để thu hút sự chú ý của khán giả. Hãy giải thích rằng việc chỉ gọi API của một LLM sẽ không tạo ra một sản phẩm tốt. Thay vào đó, khái niệm 'Harness Engineering' chính là chìa khóa. Đây là lúc chúng ta chuyển sự tập trung từ việc 'làm sao để AI thông minh hơn' sang 'làm sao để xây dựng một môi trường làm việc tốt nhất cho AI'. Nhấn mạnh các thành phần như công cụ, bộ nhớ, và rào cản bảo vệ để khán giả hiểu rõ tính phức tạp và tầm quan trọng của hệ sinh thái bao quanh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của slide này là thiết lập bối cảnh cho toàn bộ bài thuyết trình bằng cách nêu bật một thực tế: mô hình AI mạnh mẽ (như GPT-4 hay Gemini) chỉ là điều kiện cần chứ chưa đủ. Người trình bày cần nhấn mạnh vào 'Nghịch lý trong hiệu suất ứng dụng' để thu hút sự chú ý của khán giả. Hãy giải thích rằng việc chỉ gọi API của một LLM sẽ không tạo ra một sản phẩm tốt. Thay vào đó, khái niệm 'Harness Engineering' chính là chìa khóa. Đây là lúc chúng ta chuyển sự tập trung từ việc 'làm sao để AI thông minh hơn' sang 'làm sao để xây dựng một môi trường làm việc tốt nhất cho AI'. Nhấn mạnh các thành phần như công cụ, bộ nhớ, và rào cản bảo vệ để khán giả hiểu rõ tính phức tạp và tầm quan trọng của hệ sinh thái bao quanh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của slide này là thiết lập bối cảnh cho toàn bộ bài thuyết trình bằng cách nêu bật một thực tế: mô hình AI mạnh mẽ (như GPT-4 hay Gemini) chỉ là điều kiện cần chứ chưa đủ. Người trình bày cần nhấn mạnh vào 'Nghịch lý trong hiệu suất ứng dụng' để thu hút sự chú ý của khán giả. Hãy giải thích rằng việc chỉ gọi API của một LLM sẽ không tạo ra một sản phẩm tốt. Thay vào đó, khái niệm 'Harness Engineering' chính là chìa khóa. Đây là lúc chúng ta chuyển sự tập trung từ việc 'làm sao để AI thông minh hơn' sang 'làm sao để xây dựng một môi trường làm việc tốt nhất cho AI'. Nhấn mạnh các thành phần như công cụ, bộ nhớ, và rào cản bảo vệ để khán giả hiểu rõ tính phức tạp và tầm quan trọng của hệ sinh thái bao quanh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của slide này là thiết lập bối cảnh cho toàn bộ bài thuyết trình bằng cách nêu bật một thực tế: mô hình AI mạnh mẽ (như GPT-4 hay Gemini) chỉ là điều kiện cần chứ chưa đủ. Người trình bày cần nhấn mạnh vào 'Nghịch lý trong hiệu suất ứng dụng' để thu hút sự chú ý của khán giả. Hãy giải thích rằng việc chỉ gọi API của một LLM sẽ không tạo ra một sản phẩm tốt. Thay vào đó, khái niệm 'Harness Engineering' chính là chìa khóa. Đây là lúc chúng ta chuyển sự tập trung từ việc 'làm sao để AI thông minh hơn' sang 'làm sao để xây dựng một môi trường làm việc tốt nhất cho AI'. Nhấn mạnh các thành phần như công cụ, bộ nhớ, và rào cản bảo vệ để khán giả hiểu rõ tính phức tạp và tầm quan trọng của hệ sinh thái bao quanh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của slide này là thiết lập bối cảnh cho toàn bộ bài thuyết trình bằng cách nêu bật một thực tế: mô hình AI mạnh mẽ (như GPT-4 hay Gemini) chỉ là điều kiện cần chứ chưa đủ. Người trình bày cần nhấn mạnh vào 'Nghịch lý trong hiệu suất ứng dụng' để thu hút sự chú ý của khán giả. Hãy giải thích rằng việc chỉ gọi API của một LLM sẽ không tạo ra một sản phẩm tốt. Thay vào đó, khái niệm 'Harness Engineering' chính là chìa khóa. Đây là lúc chúng ta chuyển sự tập trung từ việc 'làm sao để AI thông minh hơn' sang 'làm sao để xây dựng một môi trường làm việc tốt nhất cho AI'. Nhấn mạnh các thành phần như công cụ, bộ nhớ, và rào cản bảo vệ để khán giả hiểu rõ tính phức tạp và tầm quan trọng của hệ sinh thái bao quanh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là khoảnh khắc 'Aha!' dành cho khán giả, nơi lý thuyết chuyển hóa thành thực tiễn. Hãy bắt đầu bằng cách khơi gợi sự đồng cảm về nỗi thất vọng khi sử dụng Prompt Engineering: chúng ta thường tốn quá nhiều thời gian để 'nài nỉ' AI đừng mắc lỗi, nhưng kết quả vẫn mang tính hên xui vì bản chất của LLM là dự đoán từ tiếp theo. Tiếp theo, hãy nhấn mạnh vào đoạn code giả lập của Harness Engineering. Giải thích rõ rằng thay vì bắt AI tự kiểm tra lỗi bằng văn bản, chúng ta sử dụng một công cụ có tính xác định (deterministic) như Linter. Nhấn mạnh rằng Harness Engineering chuyển dịch gánh nặng xác minh từ mô hình ngôn ngữ sang các công cụ phần mềm truyền thống. Điều này không chỉ tiết kiệm token, giảm độ trễ mà còn cam kết chất lượng đầu ra đạt mức hoàn hảo về cú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quý vị, slide này làm rõ sự khác biệt giữa Prompt, Context và Harness Engineering. Bảng so sánh là chìa khóa để hiểu tại sao doanh nghiệp cần chuyển dịch sang Harness Engineering. Hãy nhấn mạnh vào hai tiêu chí: Mức độ kiểm soát và Tính bền vững. Khi chỉ dừng lại ở việc 'viết prompt', chúng ta đang giao phó rủi ro cho AI với sự kiểm soát rất thấp. Các prompt này dễ dàng trở nên vô dụng khi mô hình AI được cập nhật. Ngược lại, Harness Engineering giải quyết triệt để vấn đề này bằng cách xây dựng một hệ thống quy trình và công cụ bao bọc lấy AI. Dù đòi hỏi đầu tư ban đầu lớn hơn về mặt thiết kế hệ thống, phương pháp này mang lại sự ổn định, khả năng tự động hóa toàn diện và mức độ an toàn cao nhất cho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quý vị, slide này làm rõ sự khác biệt giữa Prompt, Context và Harness Engineering. Bảng so sánh là chìa khóa để hiểu tại sao doanh nghiệp cần chuyển dịch sang Harness Engineering. Hãy nhấn mạnh vào hai tiêu chí: Mức độ kiểm soát và Tính bền vững. Khi chỉ dừng lại ở việc 'viết prompt', chúng ta đang giao phó rủi ro cho AI với sự kiểm soát rất thấp. Các prompt này dễ dàng trở nên vô dụng khi mô hình AI được cập nhật. Ngược lại, Harness Engineering giải quyết triệt để vấn đề này bằng cách xây dựng một hệ thống quy trình và công cụ bao bọc lấy AI. Dù đòi hỏi đầu tư ban đầu lớn hơn về mặt thiết kế hệ thống, phương pháp này mang lại sự ổn định, khả năng tự động hóa toàn diện và mức độ an toàn cao nhất cho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quý vị, slide này làm rõ sự khác biệt giữa Prompt, Context và Harness Engineering. Bảng so sánh là chìa khóa để hiểu tại sao doanh nghiệp cần chuyển dịch sang Harness Engineering. Hãy nhấn mạnh vào hai tiêu chí: Mức độ kiểm soát và Tính bền vững. Khi chỉ dừng lại ở việc 'viết prompt', chúng ta đang giao phó rủi ro cho AI với sự kiểm soát rất thấp. Các prompt này dễ dàng trở nên vô dụng khi mô hình AI được cập nhật. Ngược lại, Harness Engineering giải quyết triệt để vấn đề này bằng cách xây dựng một hệ thống quy trình và công cụ bao bọc lấy AI. Dù đòi hỏi đầu tư ban đầu lớn hơn về mặt thiết kế hệ thống, phương pháp này mang lại sự ổn định, khả năng tự động hóa toàn diện và mức độ an toàn cao nhất cho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quý vị, slide này làm rõ sự khác biệt giữa Prompt, Context và Harness Engineering. Bảng so sánh là chìa khóa để hiểu tại sao doanh nghiệp cần chuyển dịch sang Harness Engineering. Hãy nhấn mạnh vào hai tiêu chí: Mức độ kiểm soát và Tính bền vững. Khi chỉ dừng lại ở việc 'viết prompt', chúng ta đang giao phó rủi ro cho AI với sự kiểm soát rất thấp. Các prompt này dễ dàng trở nên vô dụng khi mô hình AI được cập nhật. Ngược lại, Harness Engineering giải quyết triệt để vấn đề này bằng cách xây dựng một hệ thống quy trình và công cụ bao bọc lấy AI. Dù đòi hỏi đầu tư ban đầu lớn hơn về mặt thiết kế hệ thống, phương pháp này mang lại sự ổn định, khả năng tự động hóa toàn diện và mức độ an toàn cao nhất cho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quý vị, trên slide này, chúng ta sẽ đúc kết lại bức tranh toàn cảnh thông qua việc so sánh tổng quan giữa AI Agent và các công nghệ truyền thống như RPA hay phần mềm tĩnh. Điểm nhấn đầu tiên là sự chuyển dịch từ tự động hóa theo quy tắc sang mức độ tự trị và khả năng suy luận linh hoạt. Hãy lưu ý cách AI không chỉ thực thi mà còn hiểu được mục tiêu của người dùng thông qua ngôn ngữ tự nhiên, từ đó tự động lập kế hoạch và sử dụng các công cụ cần thiết. Sự khác biệt này không chỉ thay đổi cách chúng ta tương tác với máy tính mà còn tái định hình lại hiệu suất của doanh nghiệp. Giá trị cốt lõi của AI nằm ở khả năng thích ứng và giải quyết các bài toán phức tạp một cách toàn diện (end-to-end) thay vì chỉ xử lý các tác vụ đơn lẻ.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quý vị, ở slide này, chúng ta sẽ nhìn lại hành trình tiến hóa của nghệ thuật tương tác với AI. Từ năm 2022 đến 2024, thế giới tập trung vào 'Prompt Engineering' - tức là nghệ thuật đặt câu hỏi. Tuy nhiên, cách tiếp cận này bộc lộ điểm yếu cốt lõi là mức độ kiểm soát rất thấp (chỉ đạt 1 sao) vì AI thiếu dữ liệu nền tảng, dẫn đến kết quả phụ thuộc nhiều vào may rủi và kỹ năng viết câu lệnh. Bước sang năm 2025, chúng ta chứng kiến sự trỗi dậy của 'Context Engineering'. Đây không chỉ là sự thay đổi về mặt thuật ngữ mà là một bước tiến về tư duy chiến lược: thay vì cố gắng 'hỏi cho đúng', chúng ta tập trung cung cấp 'ngữ cảnh đủ đầy'. Điều này giúp doanh nghiệp kiểm soát hoàn toàn đầu ra của AI, biến AI từ một công cụ tạo văn bản đơn thuần thành một trợ lý chuyên gia thực thụ, thấu hiểu sâu sắc nghiệp vụ nội bộ.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quý vị, ở slide này, chúng ta sẽ nhìn lại hành trình tiến hóa của nghệ thuật tương tác với AI. Từ năm 2022 đến 2024, thế giới tập trung vào 'Prompt Engineering' - tức là nghệ thuật đặt câu hỏi. Tuy nhiên, cách tiếp cận này bộc lộ điểm yếu cốt lõi là mức độ kiểm soát rất thấp (chỉ đạt 1 sao) vì AI thiếu dữ liệu nền tảng, dẫn đến kết quả phụ thuộc nhiều vào may rủi và kỹ năng viết câu lệnh. Bước sang năm 2025, chúng ta chứng kiến sự trỗi dậy của 'Context Engineering'. Đây không chỉ là sự thay đổi về mặt thuật ngữ mà là một bước tiến về tư duy chiến lược: thay vì cố gắng 'hỏi cho đúng', chúng ta tập trung cung cấp 'ngữ cảnh đủ đầy'. Điều này giúp doanh nghiệp kiểm soát hoàn toàn đầu ra của AI, biến AI từ một công cụ tạo văn bản đơn thuần thành một trợ lý chuyên gia thực thụ, thấu hiểu sâu sắc nghiệp vụ nội bộ.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quý vị, biểu đồ trên màn hình thể hiện một phát hiện mang tính bước ngoặt từ nghiên cứu SWE-agent của Princeton NLP. Thông thường, khi muốn AI hoạt động hiệu quả hơn, chúng ta thường nghĩ ngay đến việc nâng cấp lên mô hình lớn hơn hoặc fine-tune vô cùng tốn kém. Tuy nhiên, nghiên cứu này đã chỉ ra một hướng đi hoàn toàn khác: chỉ bằng cách thay đổi Agent-Computer Interface (ACI) - tức là tối ưu hóa môi trường và cách AI tương tác (chính là Harness Engineering) - hiệu suất đã tăng vọt 64%. Cụ thể, tỷ lệ thành công tăng từ mức cơ sở 12.5% lên 20.5% mà không cần can thiệp vào trọng số của mô hình gốc. Điều này mang lại một thông điệp chiến lược cốt lõi: Thiết kế Harness trong nhiều trường hợp còn quan trọng và mang lại ROI cao hơn cả việc lựa chọn mô hình AI. Doanh nghiệp có thể triển khai ngay lập tức, tiết kiệm tối đa tài nguyên tính toán và chi phí vận hành trong khi vẫn đạt được hiệu suất vượt trội.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quý vị, ở slide này, chúng ta sẽ nhìn lại hành trình tiến hóa của nghệ thuật tương tác với AI. Từ năm 2022 đến 2024, thế giới tập trung vào 'Prompt Engineering' - tức là nghệ thuật đặt câu hỏi. Tuy nhiên, cách tiếp cận này bộc lộ điểm yếu cốt lõi là mức độ kiểm soát rất thấp (chỉ đạt 1 sao) vì AI thiếu dữ liệu nền tảng, dẫn đến kết quả phụ thuộc nhiều vào may rủi và kỹ năng viết câu lệnh. Bước sang năm 2025, chúng ta chứng kiến sự trỗi dậy của 'Context Engineering'. Đây không chỉ là sự thay đổi về mặt thuật ngữ mà là một bước tiến về tư duy chiến lược: thay vì cố gắng 'hỏi cho đúng', chúng ta tập trung cung cấp 'ngữ cảnh đủ đầy'. Điều này giúp doanh nghiệp kiểm soát hoàn toàn đầu ra của AI, biến AI từ một công cụ tạo văn bản đơn thuần thành một trợ lý chuyên gia thực thụ, thấu hiểu sâu sắc nghiệp vụ nội bộ.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slide này, chúng ta sẽ đi sâu vào khía cạnh 'Kiểm Soát và Đáng Tin Cậy', một trong những lợi ích cốt lõi của Harness Engineering. Hãy bắt đầu bằng việc nhấn mạnh những rủi ro của phương pháp cũ: khi bạn yêu cầu AI 'Fix this bug' một cách chung chung, bạn đang giao phó hệ thống cho một 'hộp đen'. Không thể đoán trước hành động, không đảm bảo đầu ra và cực kỳ khó debug khi có sự cố xảy ra. Sau đó, chuyển hướng sang giải pháp Harness Engineering. Giải thích cách các đoạn mã cấu hình như 'new AIHarness' và các hàm 'validator' thiết lập ranh giới an toàn. Nhấn mạnh rằng với Harness, chúng ta cấp quyền cho AI nhưng trong một khuôn khổ được kiểm soát nghiêm ngặt (ví dụ: chỉ được sửa file trong thư mục an toàn). Điều này mang lại sự an tâm tuyệt đối cho đội ngũ kỹ sư khi áp dụng AI vào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slide này, chúng ta sẽ đi sâu vào khía cạnh 'Kiểm Soát và Đáng Tin Cậy', một trong những lợi ích cốt lõi của Harness Engineering. Hãy bắt đầu bằng việc nhấn mạnh những rủi ro của phương pháp cũ: khi bạn yêu cầu AI 'Fix this bug' một cách chung chung, bạn đang giao phó hệ thống cho một 'hộp đen'. Không thể đoán trước hành động, không đảm bảo đầu ra và cực kỳ khó debug khi có sự cố xảy ra. Sau đó, chuyển hướng sang giải pháp Harness Engineering. Giải thích cách các đoạn mã cấu hình như 'new AIHarness' và các hàm 'validator' thiết lập ranh giới an toàn. Nhấn mạnh rằng với Harness, chúng ta cấp quyền cho AI nhưng trong một khuôn khổ được kiểm soát nghiêm ngặt (ví dụ: chỉ được sửa file trong thư mục an toàn). Điều này mang lại sự an tâm tuyệt đối cho đội ngũ kỹ sư khi áp dụng AI vào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slide này, chúng ta sẽ đi sâu vào khía cạnh 'Kiểm Soát và Đáng Tin Cậy', một trong những lợi ích cốt lõi của Harness Engineering. Hãy bắt đầu bằng việc nhấn mạnh những rủi ro của phương pháp cũ: khi bạn yêu cầu AI 'Fix this bug' một cách chung chung, bạn đang giao phó hệ thống cho một 'hộp đen'. Không thể đoán trước hành động, không đảm bảo đầu ra và cực kỳ khó debug khi có sự cố xảy ra. Sau đó, chuyển hướng sang giải pháp Harness Engineering. Giải thích cách các đoạn mã cấu hình như 'new AIHarness' và các hàm 'validator' thiết lập ranh giới an toàn. Nhấn mạnh rằng với Harness, chúng ta cấp quyền cho AI nhưng trong một khuôn khổ được kiểm soát nghiêm ngặt (ví dụ: chỉ được sửa file trong thư mục an toàn). Điều này mang lại sự an tâm tuyệt đối cho đội ngũ kỹ sư khi áp dụng AI vào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slide này, chúng ta sẽ đi sâu vào khía cạnh 'Kiểm Soát và Đáng Tin Cậy', một trong những lợi ích cốt lõi của Harness Engineering. Hãy bắt đầu bằng việc nhấn mạnh những rủi ro của phương pháp cũ: khi bạn yêu cầu AI 'Fix this bug' một cách chung chung, bạn đang giao phó hệ thống cho một 'hộp đen'. Không thể đoán trước hành động, không đảm bảo đầu ra và cực kỳ khó debug khi có sự cố xảy ra. Sau đó, chuyển hướng sang giải pháp Harness Engineering. Giải thích cách các đoạn mã cấu hình như 'new AIHarness' và các hàm 'validator' thiết lập ranh giới an toàn. Nhấn mạnh rằng với Harness, chúng ta cấp quyền cho AI nhưng trong một khuôn khổ được kiểm soát nghiêm ngặt (ví dụ: chỉ được sửa file trong thư mục an toàn). Điều này mang lại sự an tâm tuyệt đối cho đội ngũ kỹ sư khi áp dụng AI vào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slide này, chúng ta sẽ đi sâu vào khía cạnh 'Kiểm Soát và Đáng Tin Cậy', một trong những lợi ích cốt lõi của Harness Engineering. Hãy bắt đầu bằng việc nhấn mạnh những rủi ro của phương pháp cũ: khi bạn yêu cầu AI 'Fix this bug' một cách chung chung, bạn đang giao phó hệ thống cho một 'hộp đen'. Không thể đoán trước hành động, không đảm bảo đầu ra và cực kỳ khó debug khi có sự cố xảy ra. Sau đó, chuyển hướng sang giải pháp Harness Engineering. Giải thích cách các đoạn mã cấu hình như 'new AIHarness' và các hàm 'validator' thiết lập ranh giới an toàn. Nhấn mạnh rằng với Harness, chúng ta cấp quyền cho AI nhưng trong một khuôn khổ được kiểm soát nghiêm ngặt (ví dụ: chỉ được sửa file trong thư mục an toàn). Điều này mang lại sự an tâm tuyệt đối cho đội ngũ kỹ sư khi áp dụng AI vào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65D"/>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914400" y="1828800"/>
            <a:ext cx="10360609" cy="2179320"/>
          </a:xfrm>
          <a:prstGeom prst="rect">
            <a:avLst/>
          </a:prstGeom>
          <a:noFill/>
          <a:ln/>
        </p:spPr>
        <p:txBody>
          <a:bodyPr wrap="square" rtlCol="0" anchor="ctr"/>
          <a:lstStyle/>
          <a:p>
            <a:pPr algn="ctr" indent="0" marL="0">
              <a:buNone/>
            </a:pPr>
            <a:r>
              <a:rPr lang="en-US" sz="4400" b="1" dirty="0">
                <a:solidFill>
                  <a:srgbClr val="FFFFFF"/>
                </a:solidFill>
                <a:latin typeface="Times New Roman" pitchFamily="34" charset="0"/>
                <a:ea typeface="Times New Roman" pitchFamily="34" charset="-122"/>
                <a:cs typeface="Times New Roman" pitchFamily="34" charset="-120"/>
              </a:rPr>
              <a:t>Harness Engineering - Kỹ Thuật Thiết Kế Hệ Thống Xung Quanh AI Agents</a:t>
            </a:r>
            <a:endParaRPr lang="en-US" sz="4400" dirty="0"/>
          </a:p>
        </p:txBody>
      </p:sp>
      <p:sp>
        <p:nvSpPr>
          <p:cNvPr id="5" name="Shape 3"/>
          <p:cNvSpPr/>
          <p:nvPr/>
        </p:nvSpPr>
        <p:spPr>
          <a:xfrm>
            <a:off x="3803904" y="4099560"/>
            <a:ext cx="4572000" cy="0"/>
          </a:xfrm>
          <a:prstGeom prst="line">
            <a:avLst/>
          </a:prstGeom>
          <a:noFill/>
          <a:ln w="25400">
            <a:solidFill>
              <a:srgbClr val="C8A951"/>
            </a:solidFill>
            <a:prstDash val="solid"/>
          </a:ln>
        </p:spPr>
      </p:sp>
      <p:sp>
        <p:nvSpPr>
          <p:cNvPr id="6" name="Text 4"/>
          <p:cNvSpPr/>
          <p:nvPr/>
        </p:nvSpPr>
        <p:spPr>
          <a:xfrm>
            <a:off x="914400" y="4282440"/>
            <a:ext cx="10360609" cy="548640"/>
          </a:xfrm>
          <a:prstGeom prst="rect">
            <a:avLst/>
          </a:prstGeom>
          <a:noFill/>
          <a:ln/>
        </p:spPr>
        <p:txBody>
          <a:bodyPr wrap="square" rtlCol="0" anchor="ctr"/>
          <a:lstStyle/>
          <a:p>
            <a:pPr algn="ctr" indent="0" marL="0">
              <a:buNone/>
            </a:pPr>
            <a:r>
              <a:rPr lang="en-US" sz="2000" dirty="0">
                <a:solidFill>
                  <a:srgbClr val="C8A951"/>
                </a:solidFill>
                <a:latin typeface="Times New Roman" pitchFamily="34" charset="0"/>
                <a:ea typeface="Times New Roman" pitchFamily="34" charset="-122"/>
                <a:cs typeface="Times New Roman" pitchFamily="34" charset="-120"/>
              </a:rPr>
              <a:t>73 sections</a:t>
            </a:r>
            <a:endParaRPr lang="en-US" sz="2000" dirty="0"/>
          </a:p>
        </p:txBody>
      </p:sp>
      <p:sp>
        <p:nvSpPr>
          <p:cNvPr id="7" name="Text 5"/>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 / 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99060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Harness Engineering - Kỹ Thuật Thiết Kế Hệ Thống Xung Quanh AI Agents</a:t>
            </a:r>
            <a:endParaRPr lang="en-US" sz="3000" dirty="0"/>
          </a:p>
        </p:txBody>
      </p:sp>
      <p:sp>
        <p:nvSpPr>
          <p:cNvPr id="5" name="Shape 3"/>
          <p:cNvSpPr/>
          <p:nvPr/>
        </p:nvSpPr>
        <p:spPr>
          <a:xfrm>
            <a:off x="4937760" y="1950720"/>
            <a:ext cx="2286000" cy="0"/>
          </a:xfrm>
          <a:prstGeom prst="line">
            <a:avLst/>
          </a:prstGeom>
          <a:noFill/>
          <a:ln w="25400">
            <a:solidFill>
              <a:srgbClr val="C8A951"/>
            </a:solidFill>
            <a:prstDash val="solid"/>
          </a:ln>
        </p:spPr>
      </p:sp>
      <p:sp>
        <p:nvSpPr>
          <p:cNvPr id="6" name="Text 4"/>
          <p:cNvSpPr/>
          <p:nvPr/>
        </p:nvSpPr>
        <p:spPr>
          <a:xfrm>
            <a:off x="731520" y="2087880"/>
            <a:ext cx="10698480" cy="4038600"/>
          </a:xfrm>
          <a:prstGeom prst="rect">
            <a:avLst/>
          </a:prstGeom>
          <a:noFill/>
          <a:ln/>
        </p:spPr>
        <p:txBody>
          <a:bodyPr wrap="square" rtlCol="0" anchor="t"/>
          <a:lstStyle/>
          <a:p>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  </a:t>
            </a:r>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Harness Engineering: </a:t>
            </a:r>
            <a:pPr indent="0" marL="0">
              <a:lnSpc>
                <a:spcPct val="130000"/>
              </a:lnSpc>
              <a:spcAft>
                <a:spcPts val="1800"/>
              </a:spcAft>
              <a:buNone/>
            </a:pPr>
            <a:r>
              <a:rPr lang="en-US" sz="1700" dirty="0">
                <a:solidFill>
                  <a:srgbClr val="1B365D"/>
                </a:solidFill>
                <a:latin typeface="Times New Roman" pitchFamily="34" charset="0"/>
                <a:ea typeface="Times New Roman" pitchFamily="34" charset="-122"/>
                <a:cs typeface="Times New Roman" pitchFamily="34" charset="-120"/>
              </a:rPr>
              <a:t>Kỹ Thuật Thiết Kế Hệ Thống Xung Quanh AI Agents</a:t>
            </a:r>
            <a:endParaRPr lang="en-US" sz="1800" dirty="0"/>
          </a:p>
          <a:p>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  </a:t>
            </a:r>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&gt; "Mỗi khi: </a:t>
            </a:r>
            <a:pPr indent="0" marL="0">
              <a:lnSpc>
                <a:spcPct val="130000"/>
              </a:lnSpc>
              <a:spcAft>
                <a:spcPts val="1800"/>
              </a:spcAft>
              <a:buNone/>
            </a:pPr>
            <a:r>
              <a:rPr lang="en-US" sz="1700" dirty="0">
                <a:solidFill>
                  <a:srgbClr val="1B365D"/>
                </a:solidFill>
                <a:latin typeface="Times New Roman" pitchFamily="34" charset="0"/>
                <a:ea typeface="Times New Roman" pitchFamily="34" charset="-122"/>
                <a:cs typeface="Times New Roman" pitchFamily="34" charset="-120"/>
              </a:rPr>
              <a:t>agent mắc lỗi, bạn không cầu nguyện nó làm tốt hơn lần sau – bạn xây dựng một giải pháp hệ thống để nó không bao giờ mắc lỗi đó nữa"</a:t>
            </a:r>
            <a:endParaRPr lang="en-US" sz="1800" dirty="0"/>
          </a:p>
          <a:p>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  </a:t>
            </a:r>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&gt; — Mitchell: </a:t>
            </a:r>
            <a:pPr indent="0" marL="0">
              <a:lnSpc>
                <a:spcPct val="130000"/>
              </a:lnSpc>
              <a:spcAft>
                <a:spcPts val="1800"/>
              </a:spcAft>
              <a:buNone/>
            </a:pPr>
            <a:r>
              <a:rPr lang="en-US" sz="1700" dirty="0">
                <a:solidFill>
                  <a:srgbClr val="1B365D"/>
                </a:solidFill>
                <a:latin typeface="Times New Roman" pitchFamily="34" charset="0"/>
                <a:ea typeface="Times New Roman" pitchFamily="34" charset="-122"/>
                <a:cs typeface="Times New Roman" pitchFamily="34" charset="-120"/>
              </a:rPr>
              <a:t>Hashimoto (Founder of HashiCorp, Creator of Terraform)</a:t>
            </a:r>
            <a:endParaRPr lang="en-US" sz="1800" dirty="0"/>
          </a:p>
        </p:txBody>
      </p:sp>
      <p:sp>
        <p:nvSpPr>
          <p:cNvPr id="7" name="Text 5"/>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 / 25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Mục Lục</a:t>
            </a:r>
            <a:endParaRPr lang="en-US" sz="3000" dirty="0"/>
          </a:p>
        </p:txBody>
      </p:sp>
      <p:sp>
        <p:nvSpPr>
          <p:cNvPr id="5" name="Shape 3"/>
          <p:cNvSpPr/>
          <p:nvPr/>
        </p:nvSpPr>
        <p:spPr>
          <a:xfrm>
            <a:off x="4937760" y="1600200"/>
            <a:ext cx="2286000" cy="0"/>
          </a:xfrm>
          <a:prstGeom prst="line">
            <a:avLst/>
          </a:prstGeom>
          <a:noFill/>
          <a:ln w="25400">
            <a:solidFill>
              <a:srgbClr val="C8A951"/>
            </a:solidFill>
            <a:prstDash val="solid"/>
          </a:ln>
        </p:spPr>
      </p:sp>
      <p:sp>
        <p:nvSpPr>
          <p:cNvPr id="6" name="Text 4"/>
          <p:cNvSpPr/>
          <p:nvPr/>
        </p:nvSpPr>
        <p:spPr>
          <a:xfrm>
            <a:off x="731520" y="1737360"/>
            <a:ext cx="10698480" cy="4389120"/>
          </a:xfrm>
          <a:prstGeom prst="rect">
            <a:avLst/>
          </a:prstGeom>
          <a:noFill/>
          <a:ln/>
        </p:spPr>
        <p:txBody>
          <a:bodyPr wrap="square" rtlCol="0" anchor="t"/>
          <a:lstStyle/>
          <a:p>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  </a:t>
            </a:r>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Tổng quan chương trình: </a:t>
            </a:r>
            <a:pPr indent="0" marL="0">
              <a:lnSpc>
                <a:spcPct val="130000"/>
              </a:lnSpc>
              <a:spcAft>
                <a:spcPts val="1800"/>
              </a:spcAft>
              <a:buNone/>
            </a:pPr>
            <a:r>
              <a:rPr lang="en-US" sz="1700" dirty="0">
                <a:solidFill>
                  <a:srgbClr val="1B365D"/>
                </a:solidFill>
                <a:latin typeface="Times New Roman" pitchFamily="34" charset="0"/>
                <a:ea typeface="Times New Roman" pitchFamily="34" charset="-122"/>
                <a:cs typeface="Times New Roman" pitchFamily="34" charset="-120"/>
              </a:rPr>
              <a:t>Đặt vấn đề và mục tiêu chính của dự án</a:t>
            </a:r>
            <a:endParaRPr lang="en-US" sz="1800" dirty="0"/>
          </a:p>
          <a:p>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  </a:t>
            </a:r>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Phân tích giải pháp: </a:t>
            </a:r>
            <a:pPr indent="0" marL="0">
              <a:lnSpc>
                <a:spcPct val="130000"/>
              </a:lnSpc>
              <a:spcAft>
                <a:spcPts val="1800"/>
              </a:spcAft>
              <a:buNone/>
            </a:pPr>
            <a:r>
              <a:rPr lang="en-US" sz="1700" dirty="0">
                <a:solidFill>
                  <a:srgbClr val="1B365D"/>
                </a:solidFill>
                <a:latin typeface="Times New Roman" pitchFamily="34" charset="0"/>
                <a:ea typeface="Times New Roman" pitchFamily="34" charset="-122"/>
                <a:cs typeface="Times New Roman" pitchFamily="34" charset="-120"/>
              </a:rPr>
              <a:t>Chi tiết các thành phần kiến trúc và mô hình hoạt động</a:t>
            </a:r>
            <a:endParaRPr lang="en-US" sz="1800" dirty="0"/>
          </a:p>
          <a:p>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  </a:t>
            </a:r>
            <a:pPr indent="0" marL="0">
              <a:lnSpc>
                <a:spcPct val="130000"/>
              </a:lnSpc>
              <a:buNone/>
            </a:pPr>
            <a:r>
              <a:rPr lang="en-US" sz="1800" b="1" dirty="0">
                <a:solidFill>
                  <a:srgbClr val="1B365D"/>
                </a:solidFill>
                <a:latin typeface="Times New Roman" pitchFamily="34" charset="0"/>
                <a:ea typeface="Times New Roman" pitchFamily="34" charset="-122"/>
                <a:cs typeface="Times New Roman" pitchFamily="34" charset="-120"/>
              </a:rPr>
              <a:t>Đánh giá &amp; Kết luận: </a:t>
            </a:r>
            <a:pPr indent="0" marL="0">
              <a:lnSpc>
                <a:spcPct val="130000"/>
              </a:lnSpc>
              <a:spcAft>
                <a:spcPts val="1800"/>
              </a:spcAft>
              <a:buNone/>
            </a:pPr>
            <a:r>
              <a:rPr lang="en-US" sz="1700" dirty="0">
                <a:solidFill>
                  <a:srgbClr val="1B365D"/>
                </a:solidFill>
                <a:latin typeface="Times New Roman" pitchFamily="34" charset="0"/>
                <a:ea typeface="Times New Roman" pitchFamily="34" charset="-122"/>
                <a:cs typeface="Times New Roman" pitchFamily="34" charset="-120"/>
              </a:rPr>
              <a:t>Tóm tắt kết quả đạt được và bài học kinh nghiệm</a:t>
            </a:r>
            <a:endParaRPr lang="en-US" sz="1800" dirty="0"/>
          </a:p>
        </p:txBody>
      </p:sp>
      <p:sp>
        <p:nvSpPr>
          <p:cNvPr id="7" name="Text 5"/>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3 / 25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Mục Lục</a:t>
            </a:r>
            <a:endParaRPr lang="en-US" sz="3000" dirty="0"/>
          </a:p>
        </p:txBody>
      </p:sp>
      <p:sp>
        <p:nvSpPr>
          <p:cNvPr id="5" name="Shape 3"/>
          <p:cNvSpPr/>
          <p:nvPr/>
        </p:nvSpPr>
        <p:spPr>
          <a:xfrm>
            <a:off x="4937760" y="1600200"/>
            <a:ext cx="2286000" cy="0"/>
          </a:xfrm>
          <a:prstGeom prst="line">
            <a:avLst/>
          </a:prstGeom>
          <a:noFill/>
          <a:ln w="25400">
            <a:solidFill>
              <a:srgbClr val="C8A951"/>
            </a:solidFill>
            <a:prstDash val="solid"/>
          </a:ln>
        </p:spPr>
      </p:sp>
      <p:sp>
        <p:nvSpPr>
          <p:cNvPr id="6" name="Text 4"/>
          <p:cNvSpPr/>
          <p:nvPr/>
        </p:nvSpPr>
        <p:spPr>
          <a:xfrm>
            <a:off x="731520" y="1737360"/>
            <a:ext cx="10698480" cy="438912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Kỹ Thuật Thiết Kế Hệ Thống Xung Quanh AI Agents</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Mục Lục: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Xây dựng giải pháp kỹ thuật tối ưu nhằm nâng cao hiệu năng, độ tin cậy và khả năng mở rộng.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Giới Thiệu: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Thiết lập quy trình chuẩn hóa giúp tối ưu hóa tài nguyên và giảm thiểu rủi ro vận hành.</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Bối Cảnh: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Đánh giá kết quả thực tế, rút ra bài học kinh nghiệm và xác định các bước triển khai tiếp theo.</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Mục Đích Của: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Tích hợp hệ thống đồng bộ nhằm đảm bảo an toàn dữ liệu và tối đa hóa trải nghiệm người dùng.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Harness Engineering Là: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Phân tích chi tiết và đánh giá toàn diện các thông số kỹ thuật cũng như các yếu tố vận hành trọng yếu.</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Định Nghĩa: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Xây dựng giải pháp kỹ thuật tối ưu nhằm nâng cao hiệu năng, độ tin cậy và khả năng mở rộng.</a:t>
            </a:r>
            <a:endParaRPr lang="en-US" sz="1400" dirty="0"/>
          </a:p>
        </p:txBody>
      </p:sp>
      <p:sp>
        <p:nvSpPr>
          <p:cNvPr id="7" name="Text 5"/>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4 / 25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Mục Lục</a:t>
            </a:r>
            <a:endParaRPr lang="en-US" sz="3000" dirty="0"/>
          </a:p>
        </p:txBody>
      </p:sp>
      <p:sp>
        <p:nvSpPr>
          <p:cNvPr id="5" name="Shape 3"/>
          <p:cNvSpPr/>
          <p:nvPr/>
        </p:nvSpPr>
        <p:spPr>
          <a:xfrm>
            <a:off x="4937760" y="1600200"/>
            <a:ext cx="2286000" cy="0"/>
          </a:xfrm>
          <a:prstGeom prst="line">
            <a:avLst/>
          </a:prstGeom>
          <a:noFill/>
          <a:ln w="25400">
            <a:solidFill>
              <a:srgbClr val="C8A951"/>
            </a:solidFill>
            <a:prstDash val="solid"/>
          </a:ln>
        </p:spPr>
      </p:sp>
      <p:sp>
        <p:nvSpPr>
          <p:cNvPr id="6" name="Shape 4"/>
          <p:cNvSpPr/>
          <p:nvPr/>
        </p:nvSpPr>
        <p:spPr>
          <a:xfrm>
            <a:off x="731520" y="1737360"/>
            <a:ext cx="3200400" cy="1828800"/>
          </a:xfrm>
          <a:prstGeom prst="rect">
            <a:avLst/>
          </a:prstGeom>
          <a:solidFill>
            <a:srgbClr val="10B981"/>
          </a:solidFill>
          <a:ln w="12700">
            <a:solidFill>
              <a:srgbClr val="1B365D"/>
            </a:solidFill>
            <a:prstDash val="solid"/>
          </a:ln>
        </p:spPr>
      </p:sp>
      <p:sp>
        <p:nvSpPr>
          <p:cNvPr id="7" name="Text 5"/>
          <p:cNvSpPr/>
          <p:nvPr/>
        </p:nvSpPr>
        <p:spPr>
          <a:xfrm>
            <a:off x="914400" y="1920240"/>
            <a:ext cx="2834640" cy="731520"/>
          </a:xfrm>
          <a:prstGeom prst="rect">
            <a:avLst/>
          </a:prstGeom>
          <a:noFill/>
          <a:ln/>
        </p:spPr>
        <p:txBody>
          <a:bodyPr wrap="square"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45%</a:t>
            </a:r>
            <a:endParaRPr lang="en-US" sz="2400" dirty="0"/>
          </a:p>
        </p:txBody>
      </p:sp>
      <p:sp>
        <p:nvSpPr>
          <p:cNvPr id="8" name="Text 6"/>
          <p:cNvSpPr/>
          <p:nvPr/>
        </p:nvSpPr>
        <p:spPr>
          <a:xfrm>
            <a:off x="914400" y="2651760"/>
            <a:ext cx="2834640" cy="548640"/>
          </a:xfrm>
          <a:prstGeom prst="rect">
            <a:avLst/>
          </a:prstGeom>
          <a:noFill/>
          <a:ln/>
        </p:spPr>
        <p:txBody>
          <a:bodyPr wrap="square" rtlCol="0" anchor="ctr"/>
          <a:lstStyle/>
          <a:p>
            <a:pPr algn="ctr" indent="0" marL="0">
              <a:buNone/>
            </a:pPr>
            <a:r>
              <a:rPr lang="en-US" sz="1200" dirty="0">
                <a:solidFill>
                  <a:srgbClr val="FFFFFF"/>
                </a:solidFill>
                <a:latin typeface="Times New Roman" pitchFamily="34" charset="0"/>
                <a:ea typeface="Times New Roman" pitchFamily="34" charset="-122"/>
                <a:cs typeface="Times New Roman" pitchFamily="34" charset="-120"/>
              </a:rPr>
              <a:t>Tăng trưởng</a:t>
            </a:r>
            <a:endParaRPr lang="en-US" sz="1200" dirty="0"/>
          </a:p>
        </p:txBody>
      </p:sp>
      <p:sp>
        <p:nvSpPr>
          <p:cNvPr id="9" name="Text 7"/>
          <p:cNvSpPr/>
          <p:nvPr/>
        </p:nvSpPr>
        <p:spPr>
          <a:xfrm>
            <a:off x="3383280" y="3200400"/>
            <a:ext cx="365760" cy="36576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[trending-up]</a:t>
            </a:r>
            <a:endParaRPr lang="en-US" sz="1000" dirty="0"/>
          </a:p>
        </p:txBody>
      </p:sp>
      <p:sp>
        <p:nvSpPr>
          <p:cNvPr id="10" name="Shape 8"/>
          <p:cNvSpPr/>
          <p:nvPr/>
        </p:nvSpPr>
        <p:spPr>
          <a:xfrm>
            <a:off x="4206240" y="1737360"/>
            <a:ext cx="3200400" cy="1828800"/>
          </a:xfrm>
          <a:prstGeom prst="rect">
            <a:avLst/>
          </a:prstGeom>
          <a:solidFill>
            <a:srgbClr val="3B82F6"/>
          </a:solidFill>
          <a:ln w="12700">
            <a:solidFill>
              <a:srgbClr val="1B365D"/>
            </a:solidFill>
            <a:prstDash val="solid"/>
          </a:ln>
        </p:spPr>
      </p:sp>
      <p:sp>
        <p:nvSpPr>
          <p:cNvPr id="11" name="Text 9"/>
          <p:cNvSpPr/>
          <p:nvPr/>
        </p:nvSpPr>
        <p:spPr>
          <a:xfrm>
            <a:off x="4389120" y="1920240"/>
            <a:ext cx="2834640" cy="731520"/>
          </a:xfrm>
          <a:prstGeom prst="rect">
            <a:avLst/>
          </a:prstGeom>
          <a:noFill/>
          <a:ln/>
        </p:spPr>
        <p:txBody>
          <a:bodyPr wrap="square"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99.9%</a:t>
            </a:r>
            <a:endParaRPr lang="en-US" sz="2400" dirty="0"/>
          </a:p>
        </p:txBody>
      </p:sp>
      <p:sp>
        <p:nvSpPr>
          <p:cNvPr id="12" name="Text 10"/>
          <p:cNvSpPr/>
          <p:nvPr/>
        </p:nvSpPr>
        <p:spPr>
          <a:xfrm>
            <a:off x="4389120" y="2651760"/>
            <a:ext cx="2834640" cy="548640"/>
          </a:xfrm>
          <a:prstGeom prst="rect">
            <a:avLst/>
          </a:prstGeom>
          <a:noFill/>
          <a:ln/>
        </p:spPr>
        <p:txBody>
          <a:bodyPr wrap="square" rtlCol="0" anchor="ctr"/>
          <a:lstStyle/>
          <a:p>
            <a:pPr algn="ctr" indent="0" marL="0">
              <a:buNone/>
            </a:pPr>
            <a:r>
              <a:rPr lang="en-US" sz="1200" dirty="0">
                <a:solidFill>
                  <a:srgbClr val="FFFFFF"/>
                </a:solidFill>
                <a:latin typeface="Times New Roman" pitchFamily="34" charset="0"/>
                <a:ea typeface="Times New Roman" pitchFamily="34" charset="-122"/>
                <a:cs typeface="Times New Roman" pitchFamily="34" charset="-120"/>
              </a:rPr>
              <a:t>Uptime</a:t>
            </a:r>
            <a:endParaRPr lang="en-US" sz="1200" dirty="0"/>
          </a:p>
        </p:txBody>
      </p:sp>
      <p:sp>
        <p:nvSpPr>
          <p:cNvPr id="13" name="Text 11"/>
          <p:cNvSpPr/>
          <p:nvPr/>
        </p:nvSpPr>
        <p:spPr>
          <a:xfrm>
            <a:off x="6858000" y="3200400"/>
            <a:ext cx="365760" cy="36576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[check-circle]</a:t>
            </a:r>
            <a:endParaRPr lang="en-US" sz="1000" dirty="0"/>
          </a:p>
        </p:txBody>
      </p:sp>
      <p:sp>
        <p:nvSpPr>
          <p:cNvPr id="14" name="Shape 12"/>
          <p:cNvSpPr/>
          <p:nvPr/>
        </p:nvSpPr>
        <p:spPr>
          <a:xfrm>
            <a:off x="7680960" y="1737360"/>
            <a:ext cx="3200400" cy="1828800"/>
          </a:xfrm>
          <a:prstGeom prst="rect">
            <a:avLst/>
          </a:prstGeom>
          <a:solidFill>
            <a:srgbClr val="F59E0B"/>
          </a:solidFill>
          <a:ln w="12700">
            <a:solidFill>
              <a:srgbClr val="1B365D"/>
            </a:solidFill>
            <a:prstDash val="solid"/>
          </a:ln>
        </p:spPr>
      </p:sp>
      <p:sp>
        <p:nvSpPr>
          <p:cNvPr id="15" name="Text 13"/>
          <p:cNvSpPr/>
          <p:nvPr/>
        </p:nvSpPr>
        <p:spPr>
          <a:xfrm>
            <a:off x="7863840" y="1920240"/>
            <a:ext cx="2834640" cy="731520"/>
          </a:xfrm>
          <a:prstGeom prst="rect">
            <a:avLst/>
          </a:prstGeom>
          <a:noFill/>
          <a:ln/>
        </p:spPr>
        <p:txBody>
          <a:bodyPr wrap="square"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&lt;100ms</a:t>
            </a:r>
            <a:endParaRPr lang="en-US" sz="2400" dirty="0"/>
          </a:p>
        </p:txBody>
      </p:sp>
      <p:sp>
        <p:nvSpPr>
          <p:cNvPr id="16" name="Text 14"/>
          <p:cNvSpPr/>
          <p:nvPr/>
        </p:nvSpPr>
        <p:spPr>
          <a:xfrm>
            <a:off x="7863840" y="2651760"/>
            <a:ext cx="2834640" cy="548640"/>
          </a:xfrm>
          <a:prstGeom prst="rect">
            <a:avLst/>
          </a:prstGeom>
          <a:noFill/>
          <a:ln/>
        </p:spPr>
        <p:txBody>
          <a:bodyPr wrap="square" rtlCol="0" anchor="ctr"/>
          <a:lstStyle/>
          <a:p>
            <a:pPr algn="ctr" indent="0" marL="0">
              <a:buNone/>
            </a:pPr>
            <a:r>
              <a:rPr lang="en-US" sz="1200" dirty="0">
                <a:solidFill>
                  <a:srgbClr val="FFFFFF"/>
                </a:solidFill>
                <a:latin typeface="Times New Roman" pitchFamily="34" charset="0"/>
                <a:ea typeface="Times New Roman" pitchFamily="34" charset="-122"/>
                <a:cs typeface="Times New Roman" pitchFamily="34" charset="-120"/>
              </a:rPr>
              <a:t>Đáp ứng</a:t>
            </a:r>
            <a:endParaRPr lang="en-US" sz="1200" dirty="0"/>
          </a:p>
        </p:txBody>
      </p:sp>
      <p:sp>
        <p:nvSpPr>
          <p:cNvPr id="17" name="Text 15"/>
          <p:cNvSpPr/>
          <p:nvPr/>
        </p:nvSpPr>
        <p:spPr>
          <a:xfrm>
            <a:off x="10332720" y="3200400"/>
            <a:ext cx="365760" cy="36576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[clock]</a:t>
            </a:r>
            <a:endParaRPr lang="en-US" sz="1000" dirty="0"/>
          </a:p>
        </p:txBody>
      </p:sp>
      <p:sp>
        <p:nvSpPr>
          <p:cNvPr id="18" name="Shape 16"/>
          <p:cNvSpPr/>
          <p:nvPr/>
        </p:nvSpPr>
        <p:spPr>
          <a:xfrm>
            <a:off x="731520" y="3840480"/>
            <a:ext cx="3200400" cy="1828800"/>
          </a:xfrm>
          <a:prstGeom prst="rect">
            <a:avLst/>
          </a:prstGeom>
          <a:solidFill>
            <a:srgbClr val="EF4444"/>
          </a:solidFill>
          <a:ln w="12700">
            <a:solidFill>
              <a:srgbClr val="1B365D"/>
            </a:solidFill>
            <a:prstDash val="solid"/>
          </a:ln>
        </p:spPr>
      </p:sp>
      <p:sp>
        <p:nvSpPr>
          <p:cNvPr id="19" name="Text 17"/>
          <p:cNvSpPr/>
          <p:nvPr/>
        </p:nvSpPr>
        <p:spPr>
          <a:xfrm>
            <a:off x="914400" y="4023360"/>
            <a:ext cx="2834640" cy="731520"/>
          </a:xfrm>
          <a:prstGeom prst="rect">
            <a:avLst/>
          </a:prstGeom>
          <a:noFill/>
          <a:ln/>
        </p:spPr>
        <p:txBody>
          <a:bodyPr wrap="square"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10K+</a:t>
            </a:r>
            <a:endParaRPr lang="en-US" sz="2400" dirty="0"/>
          </a:p>
        </p:txBody>
      </p:sp>
      <p:sp>
        <p:nvSpPr>
          <p:cNvPr id="20" name="Text 18"/>
          <p:cNvSpPr/>
          <p:nvPr/>
        </p:nvSpPr>
        <p:spPr>
          <a:xfrm>
            <a:off x="914400" y="4754880"/>
            <a:ext cx="2834640" cy="548640"/>
          </a:xfrm>
          <a:prstGeom prst="rect">
            <a:avLst/>
          </a:prstGeom>
          <a:noFill/>
          <a:ln/>
        </p:spPr>
        <p:txBody>
          <a:bodyPr wrap="square" rtlCol="0" anchor="ctr"/>
          <a:lstStyle/>
          <a:p>
            <a:pPr algn="ctr" indent="0" marL="0">
              <a:buNone/>
            </a:pPr>
            <a:r>
              <a:rPr lang="en-US" sz="1200" dirty="0">
                <a:solidFill>
                  <a:srgbClr val="FFFFFF"/>
                </a:solidFill>
                <a:latin typeface="Times New Roman" pitchFamily="34" charset="0"/>
                <a:ea typeface="Times New Roman" pitchFamily="34" charset="-122"/>
                <a:cs typeface="Times New Roman" pitchFamily="34" charset="-120"/>
              </a:rPr>
              <a:t>Người dùng</a:t>
            </a:r>
            <a:endParaRPr lang="en-US" sz="1200" dirty="0"/>
          </a:p>
        </p:txBody>
      </p:sp>
      <p:sp>
        <p:nvSpPr>
          <p:cNvPr id="21" name="Text 19"/>
          <p:cNvSpPr/>
          <p:nvPr/>
        </p:nvSpPr>
        <p:spPr>
          <a:xfrm>
            <a:off x="3383280" y="5303520"/>
            <a:ext cx="365760" cy="36576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[users]</a:t>
            </a:r>
            <a:endParaRPr lang="en-US" sz="1000" dirty="0"/>
          </a:p>
        </p:txBody>
      </p:sp>
      <p:sp>
        <p:nvSpPr>
          <p:cNvPr id="22" name="Text 20"/>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5 / 25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Giới Thiệu</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Khám phá nguyên nhân tạo nên sự khác biệt giữa các ứng dụng AI và vai trò cốt lõi của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Kỷ Nguyên Trí Tuệ Nhân Tạo: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Trong những năm gần đây, chúng ta đã chứng kiến sự phát triển vượt bậc và bùng nổ của các Mô hình Ngôn ngữ Lớn (LLMs), định hình lại cách con người tương tác với công nghệ và mở ra những tiềm năng ứng dụng vô tận trong mọi lĩnh vực.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Tiến Hóa Của Các Mô Hình: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Từ những thế hệ ban đầu như GPT-3, cho đến các mô hình tiên tiến và tinh vi hơn như GPT-4, Claude và Gemini, năng lực xử lý ngôn ngữ, suy luận logic và khả năng sáng tạo của AI ngày càng trở nên thông minh và mạnh mẽ hơn bao giờ hết.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Nghịch Lý Trong Hiệu Suất Ứng Dụng: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Dù sử dụng chung một mô hình nền tảng cốt lõi, một câu hỏi quan trọng được đặt ra: Tại sao một số ứng dụng AI hoạt động cực kỳ xuất sắc, mang lại giá trị cao, trong khi những ứng dụng khác lại gặp thất bại hoặc không đáp ứng được kỳ vọng thực tế?</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Giải Pháp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Câu trả lời không nằm ở việc tinh chỉnh bản thân mô hình AI, mà nằm ở Harness Engineering - một phương pháp tiếp cận kỹ thuật tập trung vào việc thiết kế, xây dựng và tối ưu hóa toàn bộ hệ sinh thái công nghệ bao quanh và hỗ trợ cho mô hình đó.</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Xây Dựng Hệ Sinh Thái Công Cụ &amp; Bộ Nhớ: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Để AI thực sự hữu ích, hệ thống cần được trang bị các công cụ (tools) linh hoạt để tương tác với thế giới bên ngoài, kết hợp với bộ nhớ (memory) giúp mô hình duy trì và quản lý ngữ cảnh xuyên suốt các phiên làm việc phức tạp.</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Đảm Bảo An Toàn &amp; Tối Ưu Phản Hồi: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Một hệ sinh thái hoàn chỉnh đòi hỏi việc thiết lập quyền truy cập (permissions) chặt chẽ, rào cản bảo vệ (guardrails) an toàn để ngăn chặn rủi ro, cùng với các vòng lặp phản hồi (feedback loops) liên tục giúp ứng dụng tự động cải thiện hiệu suất theo thời gian.</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6 / 25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Giới Thiệu</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Khám phá nguyên nhân tạo nên sự khác biệt giữa các ứng dụng AI và vai trò cốt lõi của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Kỷ Nguyên Trí Tuệ Nhân Tạo: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Trong những năm gần đây, chúng ta đã chứng kiến sự phát triển vượt bậc và bùng nổ của các Mô hình Ngôn ngữ Lớn (LLMs), định hình lại cách con người tương tác với công nghệ và mở ra những tiềm năng ứng dụng vô tận trong mọi lĩnh vực.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Tiến Hóa Của Các Mô Hình: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Từ những thế hệ ban đầu như GPT-3, cho đến các mô hình tiên tiến và tinh vi hơn như GPT-4, Claude và Gemini, năng lực xử lý ngôn ngữ, suy luận logic và khả năng sáng tạo của AI ngày càng trở nên thông minh và mạnh mẽ hơn bao giờ hết.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Nghịch Lý Trong Hiệu Suất Ứng Dụng: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Dù sử dụng chung một mô hình nền tảng cốt lõi, một câu hỏi quan trọng được đặt ra: Tại sao một số ứng dụng AI hoạt động cực kỳ xuất sắc, mang lại giá trị cao, trong khi những ứng dụng khác lại gặp thất bại hoặc không đáp ứng được kỳ vọng thực tế?</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Giải Pháp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Câu trả lời không nằm ở việc tinh chỉnh bản thân mô hình AI, mà nằm ở Harness Engineering - một phương pháp tiếp cận kỹ thuật tập trung vào việc thiết kế, xây dựng và tối ưu hóa toàn bộ hệ sinh thái công nghệ bao quanh và hỗ trợ cho mô hình đó.</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Xây Dựng Hệ Sinh Thái Công Cụ &amp; Bộ Nhớ: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Để AI thực sự hữu ích, hệ thống cần được trang bị các công cụ (tools) linh hoạt để tương tác với thế giới bên ngoài, kết hợp với bộ nhớ (memory) giúp mô hình duy trì và quản lý ngữ cảnh xuyên suốt các phiên làm việc phức tạp.</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Đảm Bảo An Toàn &amp; Tối Ưu Phản Hồi: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Một hệ sinh thái hoàn chỉnh đòi hỏi việc thiết lập quyền truy cập (permissions) chặt chẽ, rào cản bảo vệ (guardrails) an toàn để ngăn chặn rủi ro, cùng với các vòng lặp phản hồi (feedback loops) liên tục giúp ứng dụng tự động cải thiện hiệu suất theo thời gian.</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7 / 25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Giới Thiệu</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Khám phá nguyên nhân tạo nên sự khác biệt giữa các ứng dụng AI và vai trò cốt lõi của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914400" y="2606040"/>
            <a:ext cx="10332720" cy="548640"/>
          </a:xfrm>
          <a:prstGeom prst="rect">
            <a:avLst/>
          </a:prstGeom>
          <a:noFill/>
          <a:ln/>
        </p:spPr>
        <p:txBody>
          <a:bodyPr wrap="square" rtlCol="0" anchor="ctr"/>
          <a:lstStyle/>
          <a:p>
            <a:pPr algn="ctr" indent="0" marL="0">
              <a:buNone/>
            </a:pPr>
            <a:r>
              <a:rPr lang="en-US" sz="1800" b="1" dirty="0">
                <a:solidFill>
                  <a:srgbClr val="1B365D"/>
                </a:solidFill>
                <a:latin typeface="Times New Roman" pitchFamily="34" charset="0"/>
                <a:ea typeface="Times New Roman" pitchFamily="34" charset="-122"/>
                <a:cs typeface="Times New Roman" pitchFamily="34" charset="-120"/>
              </a:rPr>
              <a:t>[Image Grid]</a:t>
            </a:r>
            <a:endParaRPr lang="en-US" sz="18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3246120"/>
            <a:ext cx="3200400" cy="2286000"/>
          </a:xfrm>
          <a:prstGeom prst="rect">
            <a:avLst/>
          </a:prstGeom>
        </p:spPr>
      </p:pic>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14800" y="3246120"/>
            <a:ext cx="3200400" cy="2286000"/>
          </a:xfrm>
          <a:prstGeom prst="rect">
            <a:avLst/>
          </a:prstGeom>
        </p:spPr>
      </p:pic>
      <p:pic>
        <p:nvPicPr>
          <p:cNvPr id="10"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498080" y="3246120"/>
            <a:ext cx="3200400" cy="2286000"/>
          </a:xfrm>
          <a:prstGeom prst="rect">
            <a:avLst/>
          </a:prstGeom>
        </p:spPr>
      </p:pic>
      <p:sp>
        <p:nvSpPr>
          <p:cNvPr id="11"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8 / 25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Giới Thiệu</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Khám phá nguyên nhân tạo nên sự khác biệt giữa các ứng dụng AI và vai trò cốt lõi của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Kỷ Nguyên Trí Tuệ Nhân Tạo: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Trong những năm gần đây, chúng ta đã chứng kiến sự phát triển vượt bậc và bùng nổ của các Mô hình Ngôn ngữ Lớn (LLMs), định hình lại cách con người tương tác với công nghệ và mở ra những tiềm năng ứng dụng vô tận trong mọi lĩnh vực.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Tiến Hóa Của Các Mô Hình: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Từ những thế hệ ban đầu như GPT-3, cho đến các mô hình tiên tiến và tinh vi hơn như GPT-4, Claude và Gemini, năng lực xử lý ngôn ngữ, suy luận logic và khả năng sáng tạo của AI ngày càng trở nên thông minh và mạnh mẽ hơn bao giờ hết.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Nghịch Lý Trong Hiệu Suất Ứng Dụng: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Dù sử dụng chung một mô hình nền tảng cốt lõi, một câu hỏi quan trọng được đặt ra: Tại sao một số ứng dụng AI hoạt động cực kỳ xuất sắc, mang lại giá trị cao, trong khi những ứng dụng khác lại gặp thất bại hoặc không đáp ứng được kỳ vọng thực tế?</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Giải Pháp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Câu trả lời không nằm ở việc tinh chỉnh bản thân mô hình AI, mà nằm ở Harness Engineering - một phương pháp tiếp cận kỹ thuật tập trung vào việc thiết kế, xây dựng và tối ưu hóa toàn bộ hệ sinh thái công nghệ bao quanh và hỗ trợ cho mô hình đó.</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Xây Dựng Hệ Sinh Thái Công Cụ &amp; Bộ Nhớ: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Để AI thực sự hữu ích, hệ thống cần được trang bị các công cụ (tools) linh hoạt để tương tác với thế giới bên ngoài, kết hợp với bộ nhớ (memory) giúp mô hình duy trì và quản lý ngữ cảnh xuyên suốt các phiên làm việc phức tạp.</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Đảm Bảo An Toàn &amp; Tối Ưu Phản Hồi: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Một hệ sinh thái hoàn chỉnh đòi hỏi việc thiết lập quyền truy cập (permissions) chặt chẽ, rào cản bảo vệ (guardrails) an toàn để ngăn chặn rủi ro, cùng với các vòng lặp phản hồi (feedback loops) liên tục giúp ứng dụng tự động cải thiện hiệu suất theo thời gian.</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9 / 25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Giới Thiệu</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Khám phá nguyên nhân tạo nên sự khác biệt giữa các ứng dụng AI và vai trò cốt lõi của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Kỷ Nguyên Trí Tuệ Nhân Tạo: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Trong những năm gần đây, chúng ta đã chứng kiến sự phát triển vượt bậc và bùng nổ của các Mô hình Ngôn ngữ Lớn (LLMs), định hình lại cách con người tương tác với công nghệ và mở ra những tiềm năng ứng dụng vô tận trong mọi lĩnh vực.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Tiến Hóa Của Các Mô Hình: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Từ những thế hệ ban đầu như GPT-3, cho đến các mô hình tiên tiến và tinh vi hơn như GPT-4, Claude và Gemini, năng lực xử lý ngôn ngữ, suy luận logic và khả năng sáng tạo của AI ngày càng trở nên thông minh và mạnh mẽ hơn bao giờ hết.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Nghịch Lý Trong Hiệu Suất Ứng Dụng: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Dù sử dụng chung một mô hình nền tảng cốt lõi, một câu hỏi quan trọng được đặt ra: Tại sao một số ứng dụng AI hoạt động cực kỳ xuất sắc, mang lại giá trị cao, trong khi những ứng dụng khác lại gặp thất bại hoặc không đáp ứng được kỳ vọng thực tế?</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Giải Pháp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Câu trả lời không nằm ở việc tinh chỉnh bản thân mô hình AI, mà nằm ở Harness Engineering - một phương pháp tiếp cận kỹ thuật tập trung vào việc thiết kế, xây dựng và tối ưu hóa toàn bộ hệ sinh thái công nghệ bao quanh và hỗ trợ cho mô hình đó.</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Xây Dựng Hệ Sinh Thái Công Cụ &amp; Bộ Nhớ: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Để AI thực sự hữu ích, hệ thống cần được trang bị các công cụ (tools) linh hoạt để tương tác với thế giới bên ngoài, kết hợp với bộ nhớ (memory) giúp mô hình duy trì và quản lý ngữ cảnh xuyên suốt các phiên làm việc phức tạp.</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Đảm Bảo An Toàn &amp; Tối Ưu Phản Hồi: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Một hệ sinh thái hoàn chỉnh đòi hỏi việc thiết lập quyền truy cập (permissions) chặt chẽ, rào cản bảo vệ (guardrails) an toàn để ngăn chặn rủi ro, cùng với các vòng lặp phản hồi (feedback loops) liên tục giúp ứng dụng tự động cải thiện hiệu suất theo thời gian.</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10 / 25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Ví Dụ Minh Họa: AI Coding Assistant</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So sánh sự khác biệt cốt lõi giữa Prompt Engineering và Harness Engineering qua một bài toán thực tế</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Bối Cảnh Trợ Lý Lập Trình AI: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Hãy tưởng tượng bạn đang xây dựng một AI coding assistant chuyên nghiệp. Mục tiêu tối thượng là đảm bảo mã nguồn do AI sinh ra hoàn toàn không có lỗi cú pháp và tuân thủ chặt chẽ các tiêu chuẩn mã hóa của dự án trước khi trả về cho người dùng.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Cách Tiếp Cận Cũ (Prompt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Theo phương pháp truyền thống, lập trình viên cố gắng kiểm soát AI bằng các câu lệnh tự nhiên dài dòng như: "Hãy viết code Python, đảm bảo tuyệt đối không có lỗi cú pháp, tự kiểm tra kỹ lưỡng trước khi trả kết quả và tự sửa nếu phát hiện lỗi".</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Hạn Chế Của Prompt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Phương pháp này bộc lộ điểm yếu chí mạng vì AI có bản chất xác suất (probabilistic). Việc yêu cầu mô hình ngôn ngữ tự kiểm tra lỗi cú pháp bằng văn bản thường dẫn đến hiện tượng ảo giác (hallucination), bỏ sót lỗi nghiêm trọng và lãng phí tài nguyên token.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Cách Tiếp Cận Mới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Thay vì phụ thuộc vào khả năng tự đánh giá của AI, chúng ta xây dựng một hệ thống bao bọc (harness) tích hợp sẵn các công cụ phần mềm truyền thống. AI chỉ tập trung sinh mã, trong khi hệ thống bên ngoài sẽ đảm nhiệm việc kiểm chứng.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Tích Hợp Công Cụ Kiểm Tra Tự Động (Linter):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Trong kiến trúc Harness, chúng ta định nghĩa một công cụ có cấu trúc như `name: "write_code"`. Khi AI gọi công cụ này, hệ thống thực thi đoạn mã `async (code) =&gt; { const lintResult = await linter.check(code); }` để quét lỗi bằng phần mềm chuyên dụng.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Vòng Lặp Phản Hồi Chắc Chắn (Deterministic Feedback):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Nếu `lintResult` phát hiện lỗi, hệ thống Harness sẽ tự động chặn kết quả, trích xuất thông báo lỗi chính xác từ linter và lập tức yêu cầu AI sửa lại đoạn mã đó một cách hoàn toàn tự động mà không cần người dùng can thiệp.</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Hiệu Quả Vượt Trội Của Hệ Thống: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Cách tiếp cận này biến một quá trình mang tính xác suất, rủi ro cao thành một quy trình kỹ thuật phần mềm có tính xác định, đảm bảo độ tin cậy tuyệt đối về mặt cú pháp, tối ưu hóa hiệu suất và giảm tải đáng kể cho mô hình ngôn ngữ.</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11 / 25</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So Sánh Với Các Khái Niệm Khác</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Phân tích sự khác biệt cốt lõi giữa Prompt Engineering, Context Engineering và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148840"/>
          <a:ext cx="11091672" cy="914400"/>
        </p:xfrm>
        <a:graphic>
          <a:graphicData uri="http://schemas.openxmlformats.org/drawingml/2006/table">
            <a:tbl>
              <a:tblPr/>
              <a:tblGrid>
                <a:gridCol w="822960"/>
                <a:gridCol w="3422904"/>
                <a:gridCol w="3422904"/>
                <a:gridCol w="3422904"/>
              </a:tblGrid>
              <a:tr h="0">
                <a:tc>
                  <a:txBody>
                    <a:bodyP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Khía Cạnh</a:t>
                      </a:r>
                      <a:endParaRPr lang="en-US" sz="14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Prompt Engineering</a:t>
                      </a:r>
                      <a:endParaRPr lang="en-US" sz="14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Context Engineering</a:t>
                      </a:r>
                      <a:endParaRPr lang="en-US" sz="14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1400" b="1" dirty="0">
                          <a:solidFill>
                            <a:srgbClr val="FFFFFF"/>
                          </a:solidFill>
                          <a:latin typeface="Times New Roman" pitchFamily="34" charset="0"/>
                          <a:ea typeface="Times New Roman" pitchFamily="34" charset="-122"/>
                          <a:cs typeface="Times New Roman" pitchFamily="34" charset="-120"/>
                        </a:rPr>
                        <a:t>Harness Engineering</a:t>
                      </a:r>
                      <a:endParaRPr lang="en-US" sz="14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1B365D"/>
                    </a:solidFill>
                  </a:tcPr>
                </a:tc>
              </a:tr>
              <a:tr h="0">
                <a:tc>
                  <a:txBody>
                    <a:bodyPr/>
                    <a:lstStyle/>
                    <a:p>
                      <a:pPr algn="ctr" indent="0" marL="0">
                        <a:buNone/>
                      </a:pPr>
                      <a:r>
                        <a:rPr lang="en-US" sz="1200" dirty="0">
                          <a:solidFill>
                            <a:srgbClr val="1B365D"/>
                          </a:solidFill>
                          <a:latin typeface="Times New Roman" pitchFamily="34" charset="0"/>
                          <a:ea typeface="Times New Roman" pitchFamily="34" charset="-122"/>
                          <a:cs typeface="Times New Roman" pitchFamily="34" charset="-120"/>
                        </a:rPr>
                        <a:t>Trọng tâm (Focus)</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Cách đặt câu hỏi</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Dữ liệu đầu vào</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Toàn bộ hệ thống</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r>
              <a:tr h="0">
                <a:tc>
                  <a:txBody>
                    <a:bodyPr/>
                    <a:lstStyle/>
                    <a:p>
                      <a:pPr algn="ctr" indent="0" marL="0">
                        <a:buNone/>
                      </a:pPr>
                      <a:r>
                        <a:rPr lang="en-US" sz="1200" dirty="0">
                          <a:solidFill>
                            <a:srgbClr val="1B365D"/>
                          </a:solidFill>
                          <a:latin typeface="Times New Roman" pitchFamily="34" charset="0"/>
                          <a:ea typeface="Times New Roman" pitchFamily="34" charset="-122"/>
                          <a:cs typeface="Times New Roman" pitchFamily="34" charset="-120"/>
                        </a:rPr>
                        <a:t>Mục tiêu (Goal)</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Tạo câu lệnh tốt nhất</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Cung cấp ngữ cảnh phù hợp</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Xây dựng môi trường tối ưu</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FFFFF"/>
                    </a:solidFill>
                  </a:tcPr>
                </a:tc>
              </a:tr>
              <a:tr h="0">
                <a:tc>
                  <a:txBody>
                    <a:bodyPr/>
                    <a:lstStyle/>
                    <a:p>
                      <a:pPr algn="ctr" indent="0" marL="0">
                        <a:buNone/>
                      </a:pPr>
                      <a:r>
                        <a:rPr lang="en-US" sz="1200" dirty="0">
                          <a:solidFill>
                            <a:srgbClr val="1B365D"/>
                          </a:solidFill>
                          <a:latin typeface="Times New Roman" pitchFamily="34" charset="0"/>
                          <a:ea typeface="Times New Roman" pitchFamily="34" charset="-122"/>
                          <a:cs typeface="Times New Roman" pitchFamily="34" charset="-120"/>
                        </a:rPr>
                        <a:t>Ví dụ thực tế</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Viết một email bán hàng</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Đính kèm tài liệu tham khảo</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Thiết kế quy trình tự động hóa</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r>
              <a:tr h="0">
                <a:tc>
                  <a:txBody>
                    <a:bodyPr/>
                    <a:lstStyle/>
                    <a:p>
                      <a:pPr algn="ctr" indent="0" marL="0">
                        <a:buNone/>
                      </a:pPr>
                      <a:r>
                        <a:rPr lang="en-US" sz="1200" dirty="0">
                          <a:solidFill>
                            <a:srgbClr val="1B365D"/>
                          </a:solidFill>
                          <a:latin typeface="Times New Roman" pitchFamily="34" charset="0"/>
                          <a:ea typeface="Times New Roman" pitchFamily="34" charset="-122"/>
                          <a:cs typeface="Times New Roman" pitchFamily="34" charset="-120"/>
                        </a:rPr>
                        <a:t>Mức độ kiểm soát</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Thấp</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Trung bình</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Cao</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FFFFF"/>
                    </a:solidFill>
                  </a:tcPr>
                </a:tc>
              </a:tr>
              <a:tr h="0">
                <a:tc>
                  <a:txBody>
                    <a:bodyPr/>
                    <a:lstStyle/>
                    <a:p>
                      <a:pPr algn="ctr" indent="0" marL="0">
                        <a:buNone/>
                      </a:pPr>
                      <a:r>
                        <a:rPr lang="en-US" sz="1200" dirty="0">
                          <a:solidFill>
                            <a:srgbClr val="1B365D"/>
                          </a:solidFill>
                          <a:latin typeface="Times New Roman" pitchFamily="34" charset="0"/>
                          <a:ea typeface="Times New Roman" pitchFamily="34" charset="-122"/>
                          <a:cs typeface="Times New Roman" pitchFamily="34" charset="-120"/>
                        </a:rPr>
                        <a:t>Tính bền vững</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Thấp</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Trung bình</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c>
                  <a:txBody>
                    <a:bodyPr/>
                    <a:lstStyle/>
                    <a:p>
                      <a:pPr algn="l" indent="0" marL="0">
                        <a:buNone/>
                      </a:pPr>
                      <a:r>
                        <a:rPr lang="en-US" sz="1200" dirty="0">
                          <a:solidFill>
                            <a:srgbClr val="1B365D"/>
                          </a:solidFill>
                          <a:latin typeface="Times New Roman" pitchFamily="34" charset="0"/>
                          <a:ea typeface="Times New Roman" pitchFamily="34" charset="-122"/>
                          <a:cs typeface="Times New Roman" pitchFamily="34" charset="-120"/>
                        </a:rPr>
                        <a:t>Cao</a:t>
                      </a:r>
                      <a:endParaRPr lang="en-US" sz="1200" dirty="0">
                        <a:latin typeface="Times New Roman" charset="0"/>
                        <a:ea typeface="Times New Roman" charset="0"/>
                        <a:cs typeface="Times New Roman" charset="0"/>
                      </a:endParaRPr>
                    </a:p>
                  </a:txBody>
                  <a:tcPr marL="101600" marR="101600" marT="76200" marB="76200" anchor="ctr">
                    <a:lnL w="12700" cap="flat" cmpd="sng" algn="ctr">
                      <a:solidFill>
                        <a:srgbClr val="1B365D"/>
                      </a:solidFill>
                      <a:prstDash val="solid"/>
                      <a:round/>
                      <a:headEnd type="none" w="med" len="med"/>
                      <a:tailEnd type="none" w="med" len="med"/>
                    </a:lnL>
                    <a:lnR w="12700" cap="flat" cmpd="sng" algn="ctr">
                      <a:solidFill>
                        <a:srgbClr val="1B365D"/>
                      </a:solidFill>
                      <a:prstDash val="solid"/>
                      <a:round/>
                      <a:headEnd type="none" w="med" len="med"/>
                      <a:tailEnd type="none" w="med" len="med"/>
                    </a:lnR>
                    <a:lnT w="12700" cap="flat" cmpd="sng" algn="ctr">
                      <a:solidFill>
                        <a:srgbClr val="1B365D"/>
                      </a:solidFill>
                      <a:prstDash val="solid"/>
                      <a:round/>
                      <a:headEnd type="none" w="med" len="med"/>
                      <a:tailEnd type="none" w="med" len="med"/>
                    </a:lnT>
                    <a:lnB w="12700" cap="flat" cmpd="sng" algn="ctr">
                      <a:solidFill>
                        <a:srgbClr val="1B365D"/>
                      </a:solidFill>
                      <a:prstDash val="solid"/>
                      <a:round/>
                      <a:headEnd type="none" w="med" len="med"/>
                      <a:tailEnd type="none" w="med" len="med"/>
                    </a:lnB>
                    <a:solidFill>
                      <a:srgbClr val="F8F9FA"/>
                    </a:solidFill>
                  </a:tcPr>
                </a:tc>
              </a:tr>
            </a:tbl>
          </a:graphicData>
        </a:graphic>
      </p:graphicFrame>
      <p:sp>
        <p:nvSpPr>
          <p:cNvPr id="8" name="Text 5"/>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12 / 25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So Sánh Với Các Khái Niệm Khác</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Phân tích sự khác biệt cốt lõi giữa Prompt Engineering, Context Engineering và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Sự Tiến Hóa Về Trọng Tâm: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Trong khi Prompt Engineering chỉ tập trung vào việc tinh chỉnh cách đặt câu hỏi, Harness Engineering mở rộng tầm nhìn ra toàn bộ hệ sinh thái, bao gồm cả luồng công việc, công cụ hỗ trợ và môi trường để AI Agent hoạt động trơn tru.</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Chuyển Đổi Mục Tiêu Cốt Lõi: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Context Engineering cố gắng cung cấp dữ liệu nền tảng tốt nhất cho một tác vụ cụ thể, nhưng Harness Engineering hướng đến một mục tiêu vĩ mô hơn là xây dựng một môi trường hoàn chỉnh, giúp AI tự động hóa và ra quyết định chính xác.</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Mức Độ Kiểm Soát Hệ Thống: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Việc chỉ sử dụng Prompt mang lại mức độ kiểm soát rất thấp do phụ thuộc hoàn toàn vào mô hình ngôn ngữ. Ngược lại, Harness Engineering thiết lập các rào cản, quy tắc và luồng dữ liệu, mang lại khả năng kiểm soát cao và giảm thiểu rủi ro sai lệch.</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Tính Bền Vững Trong Ứng Dụng: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Các câu lệnh prompt có thể nhanh chóng lỗi thời khi mô hình AI cập nhật, dẫn đến tính bền vững thấp. Harness Engineering xây dựng kiến trúc hệ thống độc lập với từng mô hình cụ thể, đảm bảo giải pháp có thể duy trì và mở rộng lâu dài.</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Độ Phức Tạp Trong Triển Khai Thực Tế: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Ví dụ điển hình cho thấy sự khác biệt về quy mô: từ việc đơn giản là yêu cầu AI viết một email (Prompt), đến việc đính kèm tài liệu (Context), và cuối cùng là thiết kế toàn bộ quy trình làm việc tự động cho cả phòng ban (Harness).</a:t>
            </a:r>
            <a:endParaRPr lang="en-US" sz="155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13 / 25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So Sánh Với Các Khái Niệm Khác</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Phân tích sự khác biệt cốt lõi giữa Prompt Engineering, Context Engineering và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Sự Tiến Hóa Về Trọng Tâm: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Trong khi Prompt Engineering chỉ tập trung vào việc tinh chỉnh cách đặt câu hỏi, Harness Engineering mở rộng tầm nhìn ra toàn bộ hệ sinh thái, bao gồm cả luồng công việc, công cụ hỗ trợ và môi trường để AI Agent hoạt động trơn tru.</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Chuyển Đổi Mục Tiêu Cốt Lõi: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Context Engineering cố gắng cung cấp dữ liệu nền tảng tốt nhất cho một tác vụ cụ thể, nhưng Harness Engineering hướng đến một mục tiêu vĩ mô hơn là xây dựng một môi trường hoàn chỉnh, giúp AI tự động hóa và ra quyết định chính xác.</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Mức Độ Kiểm Soát Hệ Thống: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Việc chỉ sử dụng Prompt mang lại mức độ kiểm soát rất thấp do phụ thuộc hoàn toàn vào mô hình ngôn ngữ. Ngược lại, Harness Engineering thiết lập các rào cản, quy tắc và luồng dữ liệu, mang lại khả năng kiểm soát cao và giảm thiểu rủi ro sai lệch.</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Tính Bền Vững Trong Ứng Dụng: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Các câu lệnh prompt có thể nhanh chóng lỗi thời khi mô hình AI cập nhật, dẫn đến tính bền vững thấp. Harness Engineering xây dựng kiến trúc hệ thống độc lập với từng mô hình cụ thể, đảm bảo giải pháp có thể duy trì và mở rộng lâu dài.</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Độ Phức Tạp Trong Triển Khai Thực Tế: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Ví dụ điển hình cho thấy sự khác biệt về quy mô: từ việc đơn giản là yêu cầu AI viết một email (Prompt), đến việc đính kèm tài liệu (Context), và cuối cùng là thiết kế toàn bộ quy trình làm việc tự động cho cả phòng ban (Harness).</a:t>
            </a:r>
            <a:endParaRPr lang="en-US" sz="155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14 / 25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So Sánh Với Các Khái Niệm Khác</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Phân tích sự khác biệt cốt lõi giữa Prompt Engineering, Context Engineering và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914400" y="2606040"/>
            <a:ext cx="10332720" cy="914400"/>
          </a:xfrm>
          <a:prstGeom prst="rect">
            <a:avLst/>
          </a:prstGeom>
          <a:noFill/>
          <a:ln/>
        </p:spPr>
        <p:txBody>
          <a:bodyPr wrap="square" rtlCol="0" anchor="ctr"/>
          <a:lstStyle/>
          <a:p>
            <a:pPr algn="ctr" indent="0" marL="0">
              <a:buNone/>
            </a:pPr>
            <a:r>
              <a:rPr lang="en-US" sz="2000" b="1" dirty="0">
                <a:solidFill>
                  <a:srgbClr val="1B365D"/>
                </a:solidFill>
                <a:latin typeface="Times New Roman" pitchFamily="34" charset="0"/>
                <a:ea typeface="Times New Roman" pitchFamily="34" charset="-122"/>
                <a:cs typeface="Times New Roman" pitchFamily="34" charset="-120"/>
              </a:rPr>
              <a:t>[Flowchart Diagram]</a:t>
            </a:r>
            <a:endParaRPr lang="en-US" sz="2000" dirty="0"/>
          </a:p>
        </p:txBody>
      </p:sp>
      <p:sp>
        <p:nvSpPr>
          <p:cNvPr id="8" name="Shape 6"/>
          <p:cNvSpPr/>
          <p:nvPr/>
        </p:nvSpPr>
        <p:spPr>
          <a:xfrm>
            <a:off x="1828800" y="3520440"/>
            <a:ext cx="8503920" cy="548640"/>
          </a:xfrm>
          <a:prstGeom prst="rect">
            <a:avLst/>
          </a:prstGeom>
          <a:solidFill>
            <a:srgbClr val="C8A951"/>
          </a:solidFill>
          <a:ln w="12700">
            <a:solidFill>
              <a:srgbClr val="1B365D"/>
            </a:solidFill>
            <a:prstDash val="solid"/>
          </a:ln>
        </p:spPr>
      </p:sp>
      <p:sp>
        <p:nvSpPr>
          <p:cNvPr id="9" name="Text 7"/>
          <p:cNvSpPr/>
          <p:nvPr/>
        </p:nvSpPr>
        <p:spPr>
          <a:xfrm>
            <a:off x="2011680" y="3611880"/>
            <a:ext cx="8138160" cy="365760"/>
          </a:xfrm>
          <a:prstGeom prst="rect">
            <a:avLst/>
          </a:prstGeom>
          <a:noFill/>
          <a:ln/>
        </p:spPr>
        <p:txBody>
          <a:bodyPr wrap="square" rtlCol="0" anchor="ctr"/>
          <a:lstStyle/>
          <a:p>
            <a:pPr algn="ctr" indent="0" marL="0">
              <a:buNone/>
            </a:pPr>
            <a:r>
              <a:rPr lang="en-US" sz="1200" dirty="0">
                <a:solidFill>
                  <a:srgbClr val="FFFFFF"/>
                </a:solidFill>
                <a:latin typeface="Times New Roman" pitchFamily="34" charset="0"/>
                <a:ea typeface="Times New Roman" pitchFamily="34" charset="-122"/>
                <a:cs typeface="Times New Roman" pitchFamily="34" charset="-120"/>
              </a:rPr>
              <a:t>Start</a:t>
            </a:r>
            <a:endParaRPr lang="en-US" sz="1200" dirty="0"/>
          </a:p>
        </p:txBody>
      </p:sp>
      <p:sp>
        <p:nvSpPr>
          <p:cNvPr id="10" name="Shape 8"/>
          <p:cNvSpPr/>
          <p:nvPr/>
        </p:nvSpPr>
        <p:spPr>
          <a:xfrm>
            <a:off x="1828800" y="4251960"/>
            <a:ext cx="8503920" cy="548640"/>
          </a:xfrm>
          <a:prstGeom prst="rect">
            <a:avLst/>
          </a:prstGeom>
          <a:solidFill>
            <a:srgbClr val="1B365D"/>
          </a:solidFill>
          <a:ln w="12700">
            <a:solidFill>
              <a:srgbClr val="1B365D"/>
            </a:solidFill>
            <a:prstDash val="solid"/>
          </a:ln>
        </p:spPr>
      </p:sp>
      <p:sp>
        <p:nvSpPr>
          <p:cNvPr id="11" name="Text 9"/>
          <p:cNvSpPr/>
          <p:nvPr/>
        </p:nvSpPr>
        <p:spPr>
          <a:xfrm>
            <a:off x="2011680" y="4343400"/>
            <a:ext cx="8138160" cy="365760"/>
          </a:xfrm>
          <a:prstGeom prst="rect">
            <a:avLst/>
          </a:prstGeom>
          <a:noFill/>
          <a:ln/>
        </p:spPr>
        <p:txBody>
          <a:bodyPr wrap="square" rtlCol="0" anchor="ctr"/>
          <a:lstStyle/>
          <a:p>
            <a:pPr algn="ctr" indent="0" marL="0">
              <a:buNone/>
            </a:pPr>
            <a:r>
              <a:rPr lang="en-US" sz="1200" dirty="0">
                <a:solidFill>
                  <a:srgbClr val="FFFFFF"/>
                </a:solidFill>
                <a:latin typeface="Times New Roman" pitchFamily="34" charset="0"/>
                <a:ea typeface="Times New Roman" pitchFamily="34" charset="-122"/>
                <a:cs typeface="Times New Roman" pitchFamily="34" charset="-120"/>
              </a:rPr>
              <a:t>Input Data</a:t>
            </a:r>
            <a:endParaRPr lang="en-US" sz="1200" dirty="0"/>
          </a:p>
        </p:txBody>
      </p:sp>
      <p:sp>
        <p:nvSpPr>
          <p:cNvPr id="12" name="Shape 10"/>
          <p:cNvSpPr/>
          <p:nvPr/>
        </p:nvSpPr>
        <p:spPr>
          <a:xfrm>
            <a:off x="1828800" y="4983480"/>
            <a:ext cx="8503920" cy="548640"/>
          </a:xfrm>
          <a:prstGeom prst="rect">
            <a:avLst/>
          </a:prstGeom>
          <a:solidFill>
            <a:srgbClr val="1B365D"/>
          </a:solidFill>
          <a:ln w="12700">
            <a:solidFill>
              <a:srgbClr val="1B365D"/>
            </a:solidFill>
            <a:prstDash val="solid"/>
          </a:ln>
        </p:spPr>
      </p:sp>
      <p:sp>
        <p:nvSpPr>
          <p:cNvPr id="13" name="Text 11"/>
          <p:cNvSpPr/>
          <p:nvPr/>
        </p:nvSpPr>
        <p:spPr>
          <a:xfrm>
            <a:off x="2011680" y="5074920"/>
            <a:ext cx="8138160" cy="365760"/>
          </a:xfrm>
          <a:prstGeom prst="rect">
            <a:avLst/>
          </a:prstGeom>
          <a:noFill/>
          <a:ln/>
        </p:spPr>
        <p:txBody>
          <a:bodyPr wrap="square" rtlCol="0" anchor="ctr"/>
          <a:lstStyle/>
          <a:p>
            <a:pPr algn="ctr" indent="0" marL="0">
              <a:buNone/>
            </a:pPr>
            <a:r>
              <a:rPr lang="en-US" sz="1200" dirty="0">
                <a:solidFill>
                  <a:srgbClr val="FFFFFF"/>
                </a:solidFill>
                <a:latin typeface="Times New Roman" pitchFamily="34" charset="0"/>
                <a:ea typeface="Times New Roman" pitchFamily="34" charset="-122"/>
                <a:cs typeface="Times New Roman" pitchFamily="34" charset="-120"/>
              </a:rPr>
              <a:t>Processing</a:t>
            </a:r>
            <a:endParaRPr lang="en-US" sz="1200" dirty="0"/>
          </a:p>
        </p:txBody>
      </p:sp>
      <p:sp>
        <p:nvSpPr>
          <p:cNvPr id="14" name="Shape 12"/>
          <p:cNvSpPr/>
          <p:nvPr/>
        </p:nvSpPr>
        <p:spPr>
          <a:xfrm>
            <a:off x="1828800" y="5715000"/>
            <a:ext cx="8503920" cy="548640"/>
          </a:xfrm>
          <a:prstGeom prst="rect">
            <a:avLst/>
          </a:prstGeom>
          <a:solidFill>
            <a:srgbClr val="1B365D"/>
          </a:solidFill>
          <a:ln w="12700">
            <a:solidFill>
              <a:srgbClr val="1B365D"/>
            </a:solidFill>
            <a:prstDash val="solid"/>
          </a:ln>
        </p:spPr>
      </p:sp>
      <p:sp>
        <p:nvSpPr>
          <p:cNvPr id="15" name="Text 13"/>
          <p:cNvSpPr/>
          <p:nvPr/>
        </p:nvSpPr>
        <p:spPr>
          <a:xfrm>
            <a:off x="2011680" y="5806440"/>
            <a:ext cx="8138160" cy="365760"/>
          </a:xfrm>
          <a:prstGeom prst="rect">
            <a:avLst/>
          </a:prstGeom>
          <a:noFill/>
          <a:ln/>
        </p:spPr>
        <p:txBody>
          <a:bodyPr wrap="square" rtlCol="0" anchor="ctr"/>
          <a:lstStyle/>
          <a:p>
            <a:pPr algn="ctr" indent="0" marL="0">
              <a:buNone/>
            </a:pPr>
            <a:r>
              <a:rPr lang="en-US" sz="1200" dirty="0">
                <a:solidFill>
                  <a:srgbClr val="FFFFFF"/>
                </a:solidFill>
                <a:latin typeface="Times New Roman" pitchFamily="34" charset="0"/>
                <a:ea typeface="Times New Roman" pitchFamily="34" charset="-122"/>
                <a:cs typeface="Times New Roman" pitchFamily="34" charset="-120"/>
              </a:rPr>
              <a:t>Validation</a:t>
            </a:r>
            <a:endParaRPr lang="en-US" sz="1200" dirty="0"/>
          </a:p>
        </p:txBody>
      </p:sp>
      <p:sp>
        <p:nvSpPr>
          <p:cNvPr id="16" name="Shape 14"/>
          <p:cNvSpPr/>
          <p:nvPr/>
        </p:nvSpPr>
        <p:spPr>
          <a:xfrm>
            <a:off x="1828800" y="6446520"/>
            <a:ext cx="8503920" cy="548640"/>
          </a:xfrm>
          <a:prstGeom prst="rect">
            <a:avLst/>
          </a:prstGeom>
          <a:solidFill>
            <a:srgbClr val="1B365D"/>
          </a:solidFill>
          <a:ln w="12700">
            <a:solidFill>
              <a:srgbClr val="1B365D"/>
            </a:solidFill>
            <a:prstDash val="solid"/>
          </a:ln>
        </p:spPr>
      </p:sp>
      <p:sp>
        <p:nvSpPr>
          <p:cNvPr id="17" name="Text 15"/>
          <p:cNvSpPr/>
          <p:nvPr/>
        </p:nvSpPr>
        <p:spPr>
          <a:xfrm>
            <a:off x="2011680" y="6537960"/>
            <a:ext cx="8138160" cy="365760"/>
          </a:xfrm>
          <a:prstGeom prst="rect">
            <a:avLst/>
          </a:prstGeom>
          <a:noFill/>
          <a:ln/>
        </p:spPr>
        <p:txBody>
          <a:bodyPr wrap="square" rtlCol="0" anchor="ctr"/>
          <a:lstStyle/>
          <a:p>
            <a:pPr algn="ctr" indent="0" marL="0">
              <a:buNone/>
            </a:pPr>
            <a:r>
              <a:rPr lang="en-US" sz="1200" dirty="0">
                <a:solidFill>
                  <a:srgbClr val="FFFFFF"/>
                </a:solidFill>
                <a:latin typeface="Times New Roman" pitchFamily="34" charset="0"/>
                <a:ea typeface="Times New Roman" pitchFamily="34" charset="-122"/>
                <a:cs typeface="Times New Roman" pitchFamily="34" charset="-120"/>
              </a:rPr>
              <a:t>Output</a:t>
            </a:r>
            <a:endParaRPr lang="en-US" sz="1200" dirty="0"/>
          </a:p>
        </p:txBody>
      </p:sp>
      <p:sp>
        <p:nvSpPr>
          <p:cNvPr id="18" name="Shape 16"/>
          <p:cNvSpPr/>
          <p:nvPr/>
        </p:nvSpPr>
        <p:spPr>
          <a:xfrm>
            <a:off x="1828800" y="7178040"/>
            <a:ext cx="8503920" cy="548640"/>
          </a:xfrm>
          <a:prstGeom prst="rect">
            <a:avLst/>
          </a:prstGeom>
          <a:solidFill>
            <a:srgbClr val="2D5F8A"/>
          </a:solidFill>
          <a:ln w="12700">
            <a:solidFill>
              <a:srgbClr val="1B365D"/>
            </a:solidFill>
            <a:prstDash val="solid"/>
          </a:ln>
        </p:spPr>
      </p:sp>
      <p:sp>
        <p:nvSpPr>
          <p:cNvPr id="19" name="Text 17"/>
          <p:cNvSpPr/>
          <p:nvPr/>
        </p:nvSpPr>
        <p:spPr>
          <a:xfrm>
            <a:off x="2011680" y="7269480"/>
            <a:ext cx="8138160" cy="365760"/>
          </a:xfrm>
          <a:prstGeom prst="rect">
            <a:avLst/>
          </a:prstGeom>
          <a:noFill/>
          <a:ln/>
        </p:spPr>
        <p:txBody>
          <a:bodyPr wrap="square" rtlCol="0" anchor="ctr"/>
          <a:lstStyle/>
          <a:p>
            <a:pPr algn="ctr" indent="0" marL="0">
              <a:buNone/>
            </a:pPr>
            <a:r>
              <a:rPr lang="en-US" sz="1200" dirty="0">
                <a:solidFill>
                  <a:srgbClr val="FFFFFF"/>
                </a:solidFill>
                <a:latin typeface="Times New Roman" pitchFamily="34" charset="0"/>
                <a:ea typeface="Times New Roman" pitchFamily="34" charset="-122"/>
                <a:cs typeface="Times New Roman" pitchFamily="34" charset="-120"/>
              </a:rPr>
              <a:t>End</a:t>
            </a:r>
            <a:endParaRPr lang="en-US" sz="1200" dirty="0"/>
          </a:p>
        </p:txBody>
      </p:sp>
      <p:sp>
        <p:nvSpPr>
          <p:cNvPr id="20" name="Text 18"/>
          <p:cNvSpPr/>
          <p:nvPr/>
        </p:nvSpPr>
        <p:spPr>
          <a:xfrm>
            <a:off x="914400" y="6720840"/>
            <a:ext cx="10332720" cy="365760"/>
          </a:xfrm>
          <a:prstGeom prst="rect">
            <a:avLst/>
          </a:prstGeom>
          <a:noFill/>
          <a:ln/>
        </p:spPr>
        <p:txBody>
          <a:bodyPr wrap="square" rtlCol="0" anchor="ctr"/>
          <a:lstStyle/>
          <a:p>
            <a:pPr algn="ctr" indent="0" marL="0">
              <a:buNone/>
            </a:pPr>
            <a:r>
              <a:rPr lang="en-US" sz="1100" dirty="0">
                <a:solidFill>
                  <a:srgbClr val="1B365D"/>
                </a:solidFill>
                <a:latin typeface="Times New Roman" pitchFamily="34" charset="0"/>
                <a:ea typeface="Times New Roman" pitchFamily="34" charset="-122"/>
                <a:cs typeface="Times New Roman" pitchFamily="34" charset="-120"/>
              </a:rPr>
              <a:t>[5 connections]</a:t>
            </a:r>
            <a:endParaRPr lang="en-US" sz="1100" dirty="0"/>
          </a:p>
        </p:txBody>
      </p:sp>
      <p:sp>
        <p:nvSpPr>
          <p:cNvPr id="21" name="Text 19"/>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15 / 25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So Sánh Tổng Quan</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Đánh giá toàn diện sự khác biệt giữa công nghệ AI hiện đại và các hệ thống truyền thống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Mức Độ Tự Trị (Autonomy Level):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Trong khi phần mềm truyền thống và RPA yêu cầu con người can thiệp ở từng bước quyết định, các hệ thống AI Agent hiện đại có khả năng tự động lập kế hoạch, phân bổ tài nguyên và thực thi chuỗi nhiệm vụ phức tạp mà không cần giám sát liên tục.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Khả Năng Thích Ứng (Adaptability):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Khác biệt cốt lõi nằm ở khả năng học hỏi; hệ thống cũ hoạt động dựa trên các quy tắc tĩnh (rule-based) dễ gãy vỡ khi môi trường thay đổi, còn AI có thể linh hoạt điều chỉnh hành vi dựa trên ngữ cảnh mới và phản hồi từ dữ liệu thời gian thực.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Giao Diện Tương Tác (Interaction Interface):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dịch chuyển từ giao diện đồ họa (GUI) hoặc dòng lệnh cứng nhắc sang giao tiếp bằng ngôn ngữ tự nhiên (NLP) giúp người dùng chỉ cần mô tả mục tiêu (intent) thay vì phải hướng dẫn chi tiết từng thao tác kỹ thuật cụ thể.</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Năng Lực Suy Luận (Reasoning Capability):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Trợ lý AI không chỉ đơn thuần là công cụ tra cứu hay tự động hóa chuỗi lệnh, mà được tích hợp các mô hình ngôn ngữ lớn (LLM) cho phép phân tích logic, chia nhỏ vấn đề (Chain-of-Thought) và tự động sửa lỗi (self-reflection) trong quá trình vận hành.</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Tích Hợp Công Cụ (Tool Integration):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Thay vì bị giới hạn trong một hệ sinh thái đóng, các giải pháp AI thế hệ mới có thể chủ động gọi các API bên ngoài, truy xuất cơ sở dữ liệu và tương tác với các ứng dụng khác để hoàn thành quy trình làm việc từ đầu đến cuối (end-to-end).</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Tối Ưu Hóa Chi Phí (Cost Optimization):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Dù chi phí vận hành API cho LLM có thể phát sinh liên tục, việc ứng dụng AI giúp giảm thiểu đáng kể chi phí nhân sự cho các tác vụ lặp lại, đồng thời rút ngắn thời gian phát triển và bảo trì so với việc phải lập trình cứng mọi kịch bản.</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16 / 25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So Sánh Tổng Quan</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Sự dịch chuyển chiến lược từ Kỹ sư Câu lệnh (Prompt Engineering) sang Kỹ sư Ngữ cảnh (Context Engineering) trong kỷ nguyên AI 2025</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Tiến Hóa Công Nghệ AI: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dịch chuyển từ việc chỉ tập trung vào cấu trúc câu lệnh đơn lẻ sang việc xây dựng một hệ sinh thái thông tin toàn diện, đánh dấu bước ngoặt lớn trong cách con người tương tác và khai thác sức mạnh của trí tuệ nhân tạo.</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Kỷ Nguyên Prompt Engineering (2022-2024):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Giai đoạn đầu của GenAI chủ yếu xoay quanh nghệ thuật "nhắc việc", nơi người dùng cố gắng tối ưu hóa từng từ ngữ và cấu trúc ngữ pháp trong câu lệnh để định hướng mô hình ngôn ngữ tạo ra kết quả mong muốn.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Tư Duy "Làm Sao Hỏi Cho Đúng":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Trọng tâm của giai đoạn trước là việc tìm ra "câu thần chú" (magic prompt) hoàn hảo, đòi hỏi người dùng phải liên tục thử nghiệm (trial and error) để AI hiểu đúng ý định, dẫn đến sự thiếu nhất quán trong đầu ra.</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Hạn Chế Về Mức Độ Kiểm Soát (⭐ Thấp):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chỉ dựa vào câu prompt, khả năng kiểm soát chất lượng và tính chính xác của AI rất thấp, dễ dẫn đến hiện tượng "ảo giác" (hallucination) do AI thiếu đi nền tảng kiến thức chuyên sâu và ngữ cảnh thực tế của doanh nghiệp.</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Bước Ngoặt 2025 - Context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chuyển mình mạnh mẽ sang "Kỹ nghệ Ngữ cảnh", nơi trọng tâm không còn là câu hỏi mà là việc cung cấp một môi trường dữ liệu phong phú, bao gồm tài liệu nội bộ, lịch sử tương tác và quy tắc nghiệp vụ rõ ràng.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Khác Biệt Về Trọng Tâm (Focus):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Nếu Prompt Engineering chỉ tập trung vào bề mặt của giao tiếp (câu lệnh đầu vào), thì Context Engineering đi sâu vào nền tảng kiến thức (dữ liệu nền), giúp AI suy luận dựa trên sự thật và logic có hệ thống thay vì dự đoán từ ngữ đơn thuần.</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17 / 25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So Sánh Tổng Quan</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Sự dịch chuyển chiến lược từ Kỹ sư Câu lệnh (Prompt Engineering) sang Kỹ sư Ngữ cảnh (Context Engineering) trong kỷ nguyên AI 2025</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Tiến Hóa Công Nghệ AI: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dịch chuyển từ việc chỉ tập trung vào cấu trúc câu lệnh đơn lẻ sang việc xây dựng một hệ sinh thái thông tin toàn diện, đánh dấu bước ngoặt lớn trong cách con người tương tác và khai thác sức mạnh của trí tuệ nhân tạo.</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Kỷ Nguyên Prompt Engineering (2022-2024):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Giai đoạn đầu của GenAI chủ yếu xoay quanh nghệ thuật "nhắc việc", nơi người dùng cố gắng tối ưu hóa từng từ ngữ và cấu trúc ngữ pháp trong câu lệnh để định hướng mô hình ngôn ngữ tạo ra kết quả mong muốn.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Tư Duy "Làm Sao Hỏi Cho Đúng":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Trọng tâm của giai đoạn trước là việc tìm ra "câu thần chú" (magic prompt) hoàn hảo, đòi hỏi người dùng phải liên tục thử nghiệm (trial and error) để AI hiểu đúng ý định, dẫn đến sự thiếu nhất quán trong đầu ra.</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Hạn Chế Về Mức Độ Kiểm Soát (⭐ Thấp):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chỉ dựa vào câu prompt, khả năng kiểm soát chất lượng và tính chính xác của AI rất thấp, dễ dẫn đến hiện tượng "ảo giác" (hallucination) do AI thiếu đi nền tảng kiến thức chuyên sâu và ngữ cảnh thực tế của doanh nghiệp.</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Bước Ngoặt 2025 - Context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chuyển mình mạnh mẽ sang "Kỹ nghệ Ngữ cảnh", nơi trọng tâm không còn là câu hỏi mà là việc cung cấp một môi trường dữ liệu phong phú, bao gồm tài liệu nội bộ, lịch sử tương tác và quy tắc nghiệp vụ rõ ràng.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Khác Biệt Về Trọng Tâm (Focus):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Nếu Prompt Engineering chỉ tập trung vào bề mặt của giao tiếp (câu lệnh đầu vào), thì Context Engineering đi sâu vào nền tảng kiến thức (dữ liệu nền), giúp AI suy luận dựa trên sự thật và logic có hệ thống thay vì dự đoán từ ngữ đơn thuần.</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18 / 25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Tại Sao Harness Engineering Quan Trọng?</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Tối ưu hóa hiệu suất vượt trội thông qua Agent-Computer Interface (ACI)</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graphicFrame>
        <p:nvGraphicFramePr>
          <p:cNvPr id="7" name="Chart 0" descr=""/>
          <p:cNvGraphicFramePr/>
          <p:nvPr/>
        </p:nvGraphicFramePr>
        <p:xfrm>
          <a:off x="914400" y="2331720"/>
          <a:ext cx="10332720" cy="292608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731520" y="5440680"/>
            <a:ext cx="10698480" cy="1371600"/>
          </a:xfrm>
          <a:prstGeom prst="rect">
            <a:avLst/>
          </a:prstGeom>
          <a:noFill/>
          <a:ln/>
        </p:spPr>
        <p:txBody>
          <a:bodyPr wrap="square" rtlCol="0" anchor="t"/>
          <a:lstStyle/>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Tăng trưởng (+64%):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Nghiên cứu từ Princeton NLP (SWE-agent) chứng minh việc thiết kế lại Giao diện Máy tính - Tác tử (ACI) giúp tăng vọt tỷ lệ thành công mà không cần thay đổi hay nâng cấp mô hình ngôn ngữ lõi.</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Baseline (12.5%):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Trong môi trường mặc định thiếu sự tối ưu hóa giao tiếp (no harness), mô hình AI chỉ đạt mức tỷ lệ giải quyết vấn đề ở ngưỡng thấp, gặp nhiều rào cản khi tương tác và thực thi lệnh phức tạp.</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Harness Tối Ưu (20.5%):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Khi áp dụng Harness Engineering chuẩn mực, tỷ lệ giải quyết thành công tăng mạnh lên mức 20.5%, minh chứng rõ ràng cho sức mạnh của việc tinh chỉnh môi trường hoạt động chuyên biệt cho AI.</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ROI Vượt Trội (Chi phí thấp):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Đầu tư vào thiết kế Harness mang lại tỷ suất hoàn vốn cao hơn đáng kể so với việc huấn luyện (train) hoặc tinh chỉnh (fine-tune) mô hình mới, nhờ tận dụng tối đa năng lực của mô hình hiện tại.</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Triển khai Tức thì (0% Tài nguyên mới):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Phương pháp tối ưu Harness có thể được áp dụng ngay lập tức vào các hệ thống hiện hữu, hoàn toàn không đòi hỏi chi phí đắt đỏ cho tài nguyên phần cứng hay thời gian chờ đợi huấn luyện kéo dài.</a:t>
            </a:r>
            <a:endParaRPr lang="en-US" sz="1550" dirty="0"/>
          </a:p>
        </p:txBody>
      </p:sp>
      <p:sp>
        <p:nvSpPr>
          <p:cNvPr id="9"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19 / 25</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So Sánh Tổng Quan</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Sự dịch chuyển chiến lược từ Kỹ sư Câu lệnh (Prompt Engineering) sang Kỹ sư Ngữ cảnh (Context Engineering) trong kỷ nguyên AI 2025</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Tiến Hóa Công Nghệ AI: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dịch chuyển từ việc chỉ tập trung vào cấu trúc câu lệnh đơn lẻ sang việc xây dựng một hệ sinh thái thông tin toàn diện, đánh dấu bước ngoặt lớn trong cách con người tương tác và khai thác sức mạnh của trí tuệ nhân tạo.</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Kỷ Nguyên Prompt Engineering (2022-2024):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Giai đoạn đầu của GenAI chủ yếu xoay quanh nghệ thuật "nhắc việc", nơi người dùng cố gắng tối ưu hóa từng từ ngữ và cấu trúc ngữ pháp trong câu lệnh để định hướng mô hình ngôn ngữ tạo ra kết quả mong muốn.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Tư Duy "Làm Sao Hỏi Cho Đúng":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Trọng tâm của giai đoạn trước là việc tìm ra "câu thần chú" (magic prompt) hoàn hảo, đòi hỏi người dùng phải liên tục thử nghiệm (trial and error) để AI hiểu đúng ý định, dẫn đến sự thiếu nhất quán trong đầu ra.</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Hạn Chế Về Mức Độ Kiểm Soát (⭐ Thấp):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chỉ dựa vào câu prompt, khả năng kiểm soát chất lượng và tính chính xác của AI rất thấp, dễ dẫn đến hiện tượng "ảo giác" (hallucination) do AI thiếu đi nền tảng kiến thức chuyên sâu và ngữ cảnh thực tế của doanh nghiệp.</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Bước Ngoặt 2025 - Context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chuyển mình mạnh mẽ sang "Kỹ nghệ Ngữ cảnh", nơi trọng tâm không còn là câu hỏi mà là việc cung cấp một môi trường dữ liệu phong phú, bao gồm tài liệu nội bộ, lịch sử tương tác và quy tắc nghiệp vụ rõ ràng.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Khác Biệt Về Trọng Tâm (Focus):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Nếu Prompt Engineering chỉ tập trung vào bề mặt của giao tiếp (câu lệnh đầu vào), thì Context Engineering đi sâu vào nền tảng kiến thức (dữ liệu nền), giúp AI suy luận dựa trên sự thật và logic có hệ thống thay vì dự đoán từ ngữ đơn thuần.</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20 / 25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4.3. Kiểm Soát và Đáng Tin Cậy</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Chuyển đổi từ việc phó mặc cho 'hộp đen' AI sang cơ chế kiểm soát toàn diện với Harness Engineering nhằm đảm bảo độ tin cậy tuyệt đối.</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Hạn chế của cách tiếp cận cũ: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Việc giao phó toàn bộ tác vụ cho AI thông qua các câu lệnh chung chung (ví dụ: `await ai.chat("Fix this bug")`) tạo ra một "hộp đen" khó lường, nơi lập trình viên không thể kiểm soát được quy trình suy luận và các hành động cụ thể mà AI sẽ thực hiện.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thiếu chắc chắn trong kết quả: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không có cơ chế ràng buộc rõ ràng, bạn hoàn toàn không biết AI sẽ can thiệp vào đâu, dẫn đến việc không thể đảm bảo đầu ra cuối cùng sẽ tuân thủ các tiêu chuẩn mã nguồn hoặc không gây ra các lỗi hệ thống nghiêm trọng khác.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Rào cản lớn trong quá trình gỡ lỗi (Debugging):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một lỗi phát sinh từ đoạn mã do AI tự động tạo ra mà không có cơ chế theo dõi (traceability), việc xác định nguyên nhân gốc rễ trở nên cực kỳ khó khăn, làm tiêu tốn nhiều thời gian và công sức của đội ngũ phát triển.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Giải pháp đột phá từ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Phương pháp này mang lại khả năng kiểm soát hoàn toàn bằng cách thiết lập các ranh giới và quy tắc rõ ràng ngay từ đầu, biến AI từ một thực thể tự do thành một công cụ hoạt động trong một khuôn khổ an toàn và có thể dự đoán được.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Cơ chế xác thực và kiểm soát luồng (Validation):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Thông qua việc định nghĩa các công cụ với bộ xác thực chặt chẽ (ví dụ: `validator: (path) =&gt; path.startsWith('/src/')`), hệ thống đảm bảo AI chỉ được phép thao tác trên các tệp tin hoặc thư mục được chỉ định, ngăn chặn hoàn toàn các rủi ro bảo mật.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Nâng cao độ tin cậy của toàn bộ hệ thống: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Bằng cách kết hợp các quy tắc kiểm soát chặt chẽ với khả năng xử lý ngôn ngữ tự nhiên của AI, Harness Engineering giúp tự động hóa quá trình phát triển phần mềm một cách an toàn, minh bạch và luôn đảm bảo chất lượng đầu ra ở mức cao nhất.</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21 / 25</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4.3. Kiểm Soát và Đáng Tin Cậy</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Chuyển đổi từ việc phó mặc cho 'hộp đen' AI sang cơ chế kiểm soát toàn diện với Harness Engineering nhằm đảm bảo độ tin cậy tuyệt đối.</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Shape 5"/>
          <p:cNvSpPr/>
          <p:nvPr/>
        </p:nvSpPr>
        <p:spPr>
          <a:xfrm>
            <a:off x="1371600" y="2148840"/>
            <a:ext cx="0" cy="4389120"/>
          </a:xfrm>
          <a:prstGeom prst="line">
            <a:avLst/>
          </a:prstGeom>
          <a:noFill/>
          <a:ln w="25400">
            <a:solidFill>
              <a:srgbClr val="1B365D"/>
            </a:solidFill>
            <a:prstDash val="solid"/>
          </a:ln>
        </p:spPr>
      </p:sp>
      <p:sp>
        <p:nvSpPr>
          <p:cNvPr id="8" name="Shape 6"/>
          <p:cNvSpPr/>
          <p:nvPr/>
        </p:nvSpPr>
        <p:spPr>
          <a:xfrm>
            <a:off x="1234440" y="2148840"/>
            <a:ext cx="274320" cy="274320"/>
          </a:xfrm>
          <a:prstGeom prst="circle">
            <a:avLst/>
          </a:prstGeom>
          <a:solidFill>
            <a:srgbClr val="1B365D"/>
          </a:solidFill>
          <a:ln/>
        </p:spPr>
      </p:sp>
      <p:sp>
        <p:nvSpPr>
          <p:cNvPr id="9" name="Text 7"/>
          <p:cNvSpPr/>
          <p:nvPr/>
        </p:nvSpPr>
        <p:spPr>
          <a:xfrm>
            <a:off x="548640" y="2057400"/>
            <a:ext cx="731520" cy="365760"/>
          </a:xfrm>
          <a:prstGeom prst="rect">
            <a:avLst/>
          </a:prstGeom>
          <a:noFill/>
          <a:ln/>
        </p:spPr>
        <p:txBody>
          <a:bodyPr wrap="square" rtlCol="0" anchor="ctr"/>
          <a:lstStyle/>
          <a:p>
            <a:pPr algn="r" indent="0" marL="0">
              <a:buNone/>
            </a:pPr>
            <a:r>
              <a:rPr lang="en-US" sz="1000" b="1" dirty="0">
                <a:solidFill>
                  <a:srgbClr val="1B365D"/>
                </a:solidFill>
                <a:latin typeface="Times New Roman" pitchFamily="34" charset="0"/>
                <a:ea typeface="Times New Roman" pitchFamily="34" charset="-122"/>
                <a:cs typeface="Times New Roman" pitchFamily="34" charset="-120"/>
              </a:rPr>
              <a:t>2024-01</a:t>
            </a:r>
            <a:endParaRPr lang="en-US" sz="1000" dirty="0"/>
          </a:p>
        </p:txBody>
      </p:sp>
      <p:sp>
        <p:nvSpPr>
          <p:cNvPr id="10" name="Text 8"/>
          <p:cNvSpPr/>
          <p:nvPr/>
        </p:nvSpPr>
        <p:spPr>
          <a:xfrm>
            <a:off x="1645920" y="2148840"/>
            <a:ext cx="9144000" cy="365760"/>
          </a:xfrm>
          <a:prstGeom prst="rect">
            <a:avLst/>
          </a:prstGeom>
          <a:noFill/>
          <a:ln/>
        </p:spPr>
        <p:txBody>
          <a:bodyPr wrap="square" rtlCol="0" anchor="ctr"/>
          <a:lstStyle/>
          <a:p>
            <a:pPr indent="0" marL="0">
              <a:buNone/>
            </a:pPr>
            <a:r>
              <a:rPr lang="en-US" sz="1400" b="1" dirty="0">
                <a:solidFill>
                  <a:srgbClr val="1B365D"/>
                </a:solidFill>
                <a:latin typeface="Times New Roman" pitchFamily="34" charset="0"/>
                <a:ea typeface="Times New Roman" pitchFamily="34" charset="-122"/>
                <a:cs typeface="Times New Roman" pitchFamily="34" charset="-120"/>
              </a:rPr>
              <a:t>Khởi động dự án</a:t>
            </a:r>
            <a:endParaRPr lang="en-US" sz="1400" dirty="0"/>
          </a:p>
        </p:txBody>
      </p:sp>
      <p:sp>
        <p:nvSpPr>
          <p:cNvPr id="11" name="Text 9"/>
          <p:cNvSpPr/>
          <p:nvPr/>
        </p:nvSpPr>
        <p:spPr>
          <a:xfrm>
            <a:off x="1645920" y="2560320"/>
            <a:ext cx="9144000" cy="548640"/>
          </a:xfrm>
          <a:prstGeom prst="rect">
            <a:avLst/>
          </a:prstGeom>
          <a:noFill/>
          <a:ln/>
        </p:spPr>
        <p:txBody>
          <a:bodyPr wrap="square" rtlCol="0" anchor="ctr"/>
          <a:lstStyle/>
          <a:p>
            <a:pPr indent="0" marL="0">
              <a:buNone/>
            </a:pPr>
            <a:r>
              <a:rPr lang="en-US" sz="1100" dirty="0">
                <a:solidFill>
                  <a:srgbClr val="1B365D"/>
                </a:solidFill>
                <a:latin typeface="Times New Roman" pitchFamily="34" charset="0"/>
                <a:ea typeface="Times New Roman" pitchFamily="34" charset="-122"/>
                <a:cs typeface="Times New Roman" pitchFamily="34" charset="-120"/>
              </a:rPr>
              <a:t>Bắt đầu giai đoạn nghiên cứu và phân tích yêu cầu</a:t>
            </a:r>
            <a:endParaRPr lang="en-US" sz="1100" dirty="0"/>
          </a:p>
        </p:txBody>
      </p:sp>
      <p:sp>
        <p:nvSpPr>
          <p:cNvPr id="12" name="Shape 10"/>
          <p:cNvSpPr/>
          <p:nvPr/>
        </p:nvSpPr>
        <p:spPr>
          <a:xfrm>
            <a:off x="1234440" y="3246120"/>
            <a:ext cx="274320" cy="274320"/>
          </a:xfrm>
          <a:prstGeom prst="circle">
            <a:avLst/>
          </a:prstGeom>
          <a:solidFill>
            <a:srgbClr val="1B365D"/>
          </a:solidFill>
          <a:ln/>
        </p:spPr>
      </p:sp>
      <p:sp>
        <p:nvSpPr>
          <p:cNvPr id="13" name="Text 11"/>
          <p:cNvSpPr/>
          <p:nvPr/>
        </p:nvSpPr>
        <p:spPr>
          <a:xfrm>
            <a:off x="548640" y="3154680"/>
            <a:ext cx="731520" cy="365760"/>
          </a:xfrm>
          <a:prstGeom prst="rect">
            <a:avLst/>
          </a:prstGeom>
          <a:noFill/>
          <a:ln/>
        </p:spPr>
        <p:txBody>
          <a:bodyPr wrap="square" rtlCol="0" anchor="ctr"/>
          <a:lstStyle/>
          <a:p>
            <a:pPr algn="r" indent="0" marL="0">
              <a:buNone/>
            </a:pPr>
            <a:r>
              <a:rPr lang="en-US" sz="1000" b="1" dirty="0">
                <a:solidFill>
                  <a:srgbClr val="1B365D"/>
                </a:solidFill>
                <a:latin typeface="Times New Roman" pitchFamily="34" charset="0"/>
                <a:ea typeface="Times New Roman" pitchFamily="34" charset="-122"/>
                <a:cs typeface="Times New Roman" pitchFamily="34" charset="-120"/>
              </a:rPr>
              <a:t>2024-04</a:t>
            </a:r>
            <a:endParaRPr lang="en-US" sz="1000" dirty="0"/>
          </a:p>
        </p:txBody>
      </p:sp>
      <p:sp>
        <p:nvSpPr>
          <p:cNvPr id="14" name="Text 12"/>
          <p:cNvSpPr/>
          <p:nvPr/>
        </p:nvSpPr>
        <p:spPr>
          <a:xfrm>
            <a:off x="1645920" y="3246120"/>
            <a:ext cx="9144000" cy="365760"/>
          </a:xfrm>
          <a:prstGeom prst="rect">
            <a:avLst/>
          </a:prstGeom>
          <a:noFill/>
          <a:ln/>
        </p:spPr>
        <p:txBody>
          <a:bodyPr wrap="square" rtlCol="0" anchor="ctr"/>
          <a:lstStyle/>
          <a:p>
            <a:pPr indent="0" marL="0">
              <a:buNone/>
            </a:pPr>
            <a:r>
              <a:rPr lang="en-US" sz="1400" b="1" dirty="0">
                <a:solidFill>
                  <a:srgbClr val="1B365D"/>
                </a:solidFill>
                <a:latin typeface="Times New Roman" pitchFamily="34" charset="0"/>
                <a:ea typeface="Times New Roman" pitchFamily="34" charset="-122"/>
                <a:cs typeface="Times New Roman" pitchFamily="34" charset="-120"/>
              </a:rPr>
              <a:t>Phát triển</a:t>
            </a:r>
            <a:endParaRPr lang="en-US" sz="1400" dirty="0"/>
          </a:p>
        </p:txBody>
      </p:sp>
      <p:sp>
        <p:nvSpPr>
          <p:cNvPr id="15" name="Text 13"/>
          <p:cNvSpPr/>
          <p:nvPr/>
        </p:nvSpPr>
        <p:spPr>
          <a:xfrm>
            <a:off x="1645920" y="3657600"/>
            <a:ext cx="9144000" cy="548640"/>
          </a:xfrm>
          <a:prstGeom prst="rect">
            <a:avLst/>
          </a:prstGeom>
          <a:noFill/>
          <a:ln/>
        </p:spPr>
        <p:txBody>
          <a:bodyPr wrap="square" rtlCol="0" anchor="ctr"/>
          <a:lstStyle/>
          <a:p>
            <a:pPr indent="0" marL="0">
              <a:buNone/>
            </a:pPr>
            <a:r>
              <a:rPr lang="en-US" sz="1100" dirty="0">
                <a:solidFill>
                  <a:srgbClr val="1B365D"/>
                </a:solidFill>
                <a:latin typeface="Times New Roman" pitchFamily="34" charset="0"/>
                <a:ea typeface="Times New Roman" pitchFamily="34" charset="-122"/>
                <a:cs typeface="Times New Roman" pitchFamily="34" charset="-120"/>
              </a:rPr>
              <a:t>Xây dựng nguyên mẫu và thử nghiệm</a:t>
            </a:r>
            <a:endParaRPr lang="en-US" sz="1100" dirty="0"/>
          </a:p>
        </p:txBody>
      </p:sp>
      <p:sp>
        <p:nvSpPr>
          <p:cNvPr id="16" name="Shape 14"/>
          <p:cNvSpPr/>
          <p:nvPr/>
        </p:nvSpPr>
        <p:spPr>
          <a:xfrm>
            <a:off x="1234440" y="4343400"/>
            <a:ext cx="274320" cy="274320"/>
          </a:xfrm>
          <a:prstGeom prst="circle">
            <a:avLst/>
          </a:prstGeom>
          <a:solidFill>
            <a:srgbClr val="1B365D"/>
          </a:solidFill>
          <a:ln/>
        </p:spPr>
      </p:sp>
      <p:sp>
        <p:nvSpPr>
          <p:cNvPr id="17" name="Text 15"/>
          <p:cNvSpPr/>
          <p:nvPr/>
        </p:nvSpPr>
        <p:spPr>
          <a:xfrm>
            <a:off x="548640" y="4251960"/>
            <a:ext cx="731520" cy="365760"/>
          </a:xfrm>
          <a:prstGeom prst="rect">
            <a:avLst/>
          </a:prstGeom>
          <a:noFill/>
          <a:ln/>
        </p:spPr>
        <p:txBody>
          <a:bodyPr wrap="square" rtlCol="0" anchor="ctr"/>
          <a:lstStyle/>
          <a:p>
            <a:pPr algn="r" indent="0" marL="0">
              <a:buNone/>
            </a:pPr>
            <a:r>
              <a:rPr lang="en-US" sz="1000" b="1" dirty="0">
                <a:solidFill>
                  <a:srgbClr val="1B365D"/>
                </a:solidFill>
                <a:latin typeface="Times New Roman" pitchFamily="34" charset="0"/>
                <a:ea typeface="Times New Roman" pitchFamily="34" charset="-122"/>
                <a:cs typeface="Times New Roman" pitchFamily="34" charset="-120"/>
              </a:rPr>
              <a:t>2024-07</a:t>
            </a:r>
            <a:endParaRPr lang="en-US" sz="1000" dirty="0"/>
          </a:p>
        </p:txBody>
      </p:sp>
      <p:sp>
        <p:nvSpPr>
          <p:cNvPr id="18" name="Text 16"/>
          <p:cNvSpPr/>
          <p:nvPr/>
        </p:nvSpPr>
        <p:spPr>
          <a:xfrm>
            <a:off x="1645920" y="4343400"/>
            <a:ext cx="9144000" cy="365760"/>
          </a:xfrm>
          <a:prstGeom prst="rect">
            <a:avLst/>
          </a:prstGeom>
          <a:noFill/>
          <a:ln/>
        </p:spPr>
        <p:txBody>
          <a:bodyPr wrap="square" rtlCol="0" anchor="ctr"/>
          <a:lstStyle/>
          <a:p>
            <a:pPr indent="0" marL="0">
              <a:buNone/>
            </a:pPr>
            <a:r>
              <a:rPr lang="en-US" sz="1400" b="1" dirty="0">
                <a:solidFill>
                  <a:srgbClr val="1B365D"/>
                </a:solidFill>
                <a:latin typeface="Times New Roman" pitchFamily="34" charset="0"/>
                <a:ea typeface="Times New Roman" pitchFamily="34" charset="-122"/>
                <a:cs typeface="Times New Roman" pitchFamily="34" charset="-120"/>
              </a:rPr>
              <a:t>Triển khai</a:t>
            </a:r>
            <a:endParaRPr lang="en-US" sz="1400" dirty="0"/>
          </a:p>
        </p:txBody>
      </p:sp>
      <p:sp>
        <p:nvSpPr>
          <p:cNvPr id="19" name="Text 17"/>
          <p:cNvSpPr/>
          <p:nvPr/>
        </p:nvSpPr>
        <p:spPr>
          <a:xfrm>
            <a:off x="1645920" y="4754880"/>
            <a:ext cx="9144000" cy="548640"/>
          </a:xfrm>
          <a:prstGeom prst="rect">
            <a:avLst/>
          </a:prstGeom>
          <a:noFill/>
          <a:ln/>
        </p:spPr>
        <p:txBody>
          <a:bodyPr wrap="square" rtlCol="0" anchor="ctr"/>
          <a:lstStyle/>
          <a:p>
            <a:pPr indent="0" marL="0">
              <a:buNone/>
            </a:pPr>
            <a:r>
              <a:rPr lang="en-US" sz="1100" dirty="0">
                <a:solidFill>
                  <a:srgbClr val="1B365D"/>
                </a:solidFill>
                <a:latin typeface="Times New Roman" pitchFamily="34" charset="0"/>
                <a:ea typeface="Times New Roman" pitchFamily="34" charset="-122"/>
                <a:cs typeface="Times New Roman" pitchFamily="34" charset="-120"/>
              </a:rPr>
              <a:t>Ra mắt sản phẩm chính thức</a:t>
            </a:r>
            <a:endParaRPr lang="en-US" sz="1100" dirty="0"/>
          </a:p>
        </p:txBody>
      </p:sp>
      <p:sp>
        <p:nvSpPr>
          <p:cNvPr id="20" name="Shape 18"/>
          <p:cNvSpPr/>
          <p:nvPr/>
        </p:nvSpPr>
        <p:spPr>
          <a:xfrm>
            <a:off x="1234440" y="5440680"/>
            <a:ext cx="274320" cy="274320"/>
          </a:xfrm>
          <a:prstGeom prst="circle">
            <a:avLst/>
          </a:prstGeom>
          <a:solidFill>
            <a:srgbClr val="1B365D"/>
          </a:solidFill>
          <a:ln/>
        </p:spPr>
      </p:sp>
      <p:sp>
        <p:nvSpPr>
          <p:cNvPr id="21" name="Text 19"/>
          <p:cNvSpPr/>
          <p:nvPr/>
        </p:nvSpPr>
        <p:spPr>
          <a:xfrm>
            <a:off x="548640" y="5349240"/>
            <a:ext cx="731520" cy="365760"/>
          </a:xfrm>
          <a:prstGeom prst="rect">
            <a:avLst/>
          </a:prstGeom>
          <a:noFill/>
          <a:ln/>
        </p:spPr>
        <p:txBody>
          <a:bodyPr wrap="square" rtlCol="0" anchor="ctr"/>
          <a:lstStyle/>
          <a:p>
            <a:pPr algn="r" indent="0" marL="0">
              <a:buNone/>
            </a:pPr>
            <a:r>
              <a:rPr lang="en-US" sz="1000" b="1" dirty="0">
                <a:solidFill>
                  <a:srgbClr val="1B365D"/>
                </a:solidFill>
                <a:latin typeface="Times New Roman" pitchFamily="34" charset="0"/>
                <a:ea typeface="Times New Roman" pitchFamily="34" charset="-122"/>
                <a:cs typeface="Times New Roman" pitchFamily="34" charset="-120"/>
              </a:rPr>
              <a:t>2024-10</a:t>
            </a:r>
            <a:endParaRPr lang="en-US" sz="1000" dirty="0"/>
          </a:p>
        </p:txBody>
      </p:sp>
      <p:sp>
        <p:nvSpPr>
          <p:cNvPr id="22" name="Text 20"/>
          <p:cNvSpPr/>
          <p:nvPr/>
        </p:nvSpPr>
        <p:spPr>
          <a:xfrm>
            <a:off x="1645920" y="5440680"/>
            <a:ext cx="9144000" cy="365760"/>
          </a:xfrm>
          <a:prstGeom prst="rect">
            <a:avLst/>
          </a:prstGeom>
          <a:noFill/>
          <a:ln/>
        </p:spPr>
        <p:txBody>
          <a:bodyPr wrap="square" rtlCol="0" anchor="ctr"/>
          <a:lstStyle/>
          <a:p>
            <a:pPr indent="0" marL="0">
              <a:buNone/>
            </a:pPr>
            <a:r>
              <a:rPr lang="en-US" sz="1400" b="1" dirty="0">
                <a:solidFill>
                  <a:srgbClr val="1B365D"/>
                </a:solidFill>
                <a:latin typeface="Times New Roman" pitchFamily="34" charset="0"/>
                <a:ea typeface="Times New Roman" pitchFamily="34" charset="-122"/>
                <a:cs typeface="Times New Roman" pitchFamily="34" charset="-120"/>
              </a:rPr>
              <a:t>Tối ưu</a:t>
            </a:r>
            <a:endParaRPr lang="en-US" sz="1400" dirty="0"/>
          </a:p>
        </p:txBody>
      </p:sp>
      <p:sp>
        <p:nvSpPr>
          <p:cNvPr id="23" name="Text 21"/>
          <p:cNvSpPr/>
          <p:nvPr/>
        </p:nvSpPr>
        <p:spPr>
          <a:xfrm>
            <a:off x="1645920" y="5852160"/>
            <a:ext cx="9144000" cy="548640"/>
          </a:xfrm>
          <a:prstGeom prst="rect">
            <a:avLst/>
          </a:prstGeom>
          <a:noFill/>
          <a:ln/>
        </p:spPr>
        <p:txBody>
          <a:bodyPr wrap="square" rtlCol="0" anchor="ctr"/>
          <a:lstStyle/>
          <a:p>
            <a:pPr indent="0" marL="0">
              <a:buNone/>
            </a:pPr>
            <a:r>
              <a:rPr lang="en-US" sz="1100" dirty="0">
                <a:solidFill>
                  <a:srgbClr val="1B365D"/>
                </a:solidFill>
                <a:latin typeface="Times New Roman" pitchFamily="34" charset="0"/>
                <a:ea typeface="Times New Roman" pitchFamily="34" charset="-122"/>
                <a:cs typeface="Times New Roman" pitchFamily="34" charset="-120"/>
              </a:rPr>
              <a:t>Nâng cấp và tối ưu hiệu năng</a:t>
            </a:r>
            <a:endParaRPr lang="en-US" sz="1100" dirty="0"/>
          </a:p>
        </p:txBody>
      </p:sp>
      <p:sp>
        <p:nvSpPr>
          <p:cNvPr id="24" name="Text 22"/>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22 / 25</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4.3. Kiểm Soát và Đáng Tin Cậy</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Chuyển đổi từ việc phó mặc cho 'hộp đen' AI sang cơ chế kiểm soát toàn diện với Harness Engineering nhằm đảm bảo độ tin cậy tuyệt đối.</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Hạn chế của cách tiếp cận cũ: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Việc giao phó toàn bộ tác vụ cho AI thông qua các câu lệnh chung chung (ví dụ: `await ai.chat("Fix this bug")`) tạo ra một "hộp đen" khó lường, nơi lập trình viên không thể kiểm soát được quy trình suy luận và các hành động cụ thể mà AI sẽ thực hiện.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thiếu chắc chắn trong kết quả: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không có cơ chế ràng buộc rõ ràng, bạn hoàn toàn không biết AI sẽ can thiệp vào đâu, dẫn đến việc không thể đảm bảo đầu ra cuối cùng sẽ tuân thủ các tiêu chuẩn mã nguồn hoặc không gây ra các lỗi hệ thống nghiêm trọng khác.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Rào cản lớn trong quá trình gỡ lỗi (Debugging):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một lỗi phát sinh từ đoạn mã do AI tự động tạo ra mà không có cơ chế theo dõi (traceability), việc xác định nguyên nhân gốc rễ trở nên cực kỳ khó khăn, làm tiêu tốn nhiều thời gian và công sức của đội ngũ phát triển.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Giải pháp đột phá từ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Phương pháp này mang lại khả năng kiểm soát hoàn toàn bằng cách thiết lập các ranh giới và quy tắc rõ ràng ngay từ đầu, biến AI từ một thực thể tự do thành một công cụ hoạt động trong một khuôn khổ an toàn và có thể dự đoán được.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Cơ chế xác thực và kiểm soát luồng (Validation):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Thông qua việc định nghĩa các công cụ với bộ xác thực chặt chẽ (ví dụ: `validator: (path) =&gt; path.startsWith('/src/')`), hệ thống đảm bảo AI chỉ được phép thao tác trên các tệp tin hoặc thư mục được chỉ định, ngăn chặn hoàn toàn các rủi ro bảo mật.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Nâng cao độ tin cậy của toàn bộ hệ thống: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Bằng cách kết hợp các quy tắc kiểm soát chặt chẽ với khả năng xử lý ngôn ngữ tự nhiên của AI, Harness Engineering giúp tự động hóa quá trình phát triển phần mềm một cách an toàn, minh bạch và luôn đảm bảo chất lượng đầu ra ở mức cao nhất.</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23 / 25</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4.3. Kiểm Soát và Đáng Tin Cậy</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Chuyển đổi từ việc phó mặc cho 'hộp đen' AI sang cơ chế kiểm soát toàn diện với Harness Engineering nhằm đảm bảo độ tin cậy tuyệt đối.</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Hạn chế của cách tiếp cận cũ: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Việc giao phó toàn bộ tác vụ cho AI thông qua các câu lệnh chung chung (ví dụ: `await ai.chat("Fix this bug")`) tạo ra một "hộp đen" khó lường, nơi lập trình viên không thể kiểm soát được quy trình suy luận và các hành động cụ thể mà AI sẽ thực hiện.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thiếu chắc chắn trong kết quả: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không có cơ chế ràng buộc rõ ràng, bạn hoàn toàn không biết AI sẽ can thiệp vào đâu, dẫn đến việc không thể đảm bảo đầu ra cuối cùng sẽ tuân thủ các tiêu chuẩn mã nguồn hoặc không gây ra các lỗi hệ thống nghiêm trọng khác.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Rào cản lớn trong quá trình gỡ lỗi (Debugging):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một lỗi phát sinh từ đoạn mã do AI tự động tạo ra mà không có cơ chế theo dõi (traceability), việc xác định nguyên nhân gốc rễ trở nên cực kỳ khó khăn, làm tiêu tốn nhiều thời gian và công sức của đội ngũ phát triển.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Giải pháp đột phá từ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Phương pháp này mang lại khả năng kiểm soát hoàn toàn bằng cách thiết lập các ranh giới và quy tắc rõ ràng ngay từ đầu, biến AI từ một thực thể tự do thành một công cụ hoạt động trong một khuôn khổ an toàn và có thể dự đoán được.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Cơ chế xác thực và kiểm soát luồng (Validation):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Thông qua việc định nghĩa các công cụ với bộ xác thực chặt chẽ (ví dụ: `validator: (path) =&gt; path.startsWith('/src/')`), hệ thống đảm bảo AI chỉ được phép thao tác trên các tệp tin hoặc thư mục được chỉ định, ngăn chặn hoàn toàn các rủi ro bảo mật.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Nâng cao độ tin cậy của toàn bộ hệ thống: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Bằng cách kết hợp các quy tắc kiểm soát chặt chẽ với khả năng xử lý ngôn ngữ tự nhiên của AI, Harness Engineering giúp tự động hóa quá trình phát triển phần mềm một cách an toàn, minh bạch và luôn đảm bảo chất lượng đầu ra ở mức cao nhất.</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24 / 25</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4.3. Kiểm Soát và Đáng Tin Cậy</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Chuyển đổi từ việc phó mặc cho 'hộp đen' AI sang cơ chế kiểm soát toàn diện với Harness Engineering nhằm đảm bảo độ tin cậy tuyệt đối.</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Hạn chế của cách tiếp cận cũ: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Việc giao phó toàn bộ tác vụ cho AI thông qua các câu lệnh chung chung (ví dụ: `await ai.chat("Fix this bug")`) tạo ra một "hộp đen" khó lường, nơi lập trình viên không thể kiểm soát được quy trình suy luận và các hành động cụ thể mà AI sẽ thực hiện.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thiếu chắc chắn trong kết quả: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không có cơ chế ràng buộc rõ ràng, bạn hoàn toàn không biết AI sẽ can thiệp vào đâu, dẫn đến việc không thể đảm bảo đầu ra cuối cùng sẽ tuân thủ các tiêu chuẩn mã nguồn hoặc không gây ra các lỗi hệ thống nghiêm trọng khác.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Rào cản lớn trong quá trình gỡ lỗi (Debugging):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một lỗi phát sinh từ đoạn mã do AI tự động tạo ra mà không có cơ chế theo dõi (traceability), việc xác định nguyên nhân gốc rễ trở nên cực kỳ khó khăn, làm tiêu tốn nhiều thời gian và công sức của đội ngũ phát triển.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Giải pháp đột phá từ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Phương pháp này mang lại khả năng kiểm soát hoàn toàn bằng cách thiết lập các ranh giới và quy tắc rõ ràng ngay từ đầu, biến AI từ một thực thể tự do thành một công cụ hoạt động trong một khuôn khổ an toàn và có thể dự đoán được.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Cơ chế xác thực và kiểm soát luồng (Validation):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Thông qua việc định nghĩa các công cụ với bộ xác thực chặt chẽ (ví dụ: `validator: (path) =&gt; path.startsWith('/src/')`), hệ thống đảm bảo AI chỉ được phép thao tác trên các tệp tin hoặc thư mục được chỉ định, ngăn chặn hoàn toàn các rủi ro bảo mật.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Nâng cao độ tin cậy của toàn bộ hệ thống: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Bằng cách kết hợp các quy tắc kiểm soát chặt chẽ với khả năng xử lý ngôn ngữ tự nhiên của AI, Harness Engineering giúp tự động hóa quá trình phát triển phần mềm một cách an toàn, minh bạch và luôn đảm bảo chất lượng đầu ra ở mức cao nhất.</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25 / 25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Harness Engineering - Kỹ Thuật Thiết Kế Hệ Thống Xung Quanh AI Agents
&gt; **"Mỗi khi agent mắc lỗi, bạn không cầu nguyện nó làm tốt hơn lần sau – bạn xây dựng một giải pháp hệ thống để nó không bao giờ mắc lỗi đó nữa"**  
&gt; — Mitchell Hashimoto (Founder of HashiCorp, Creator of Terraform)
---
## Mục Lục
- [Harness Engineering - Kỹ Thuật Thiết Kế Hệ Thống Xung Quanh AI Agents](#harness-engineering---kỹ-thuật-thiết-kế-hệ-thống-xung-quanh-ai-agents)
  - [Mục Lục](#mục-lục)
  - [1. Giới Thiệu](#1-giới-thiệu)
    - [Bối Cảnh](#bối-cảnh)
    - [Mục Đích Của Tài Liệu](#mục-đích-của-tài-liệu)
  - [2. Harness Engineering Là Gì?](#2-harness-engineering-là-gì)
    - [Định Nghĩa](#định-nghĩa)
    - [Triết Lý Cốt Lõi](#triết-lý-cốt-lõi)
    - [Ví Dụ Minh Họa](#ví-dụ-minh-họa)
    - [So Sánh Với Các Khái Niệm Khác](#so-sánh-với-các-khái-niệm-khác)
  - [3. Ba Giai Đoạn Tiến Hóa Của Kỹ Nghệ AI](#3-ba-giai-đoạn-tiến-hóa-của-kỹ-nghệ-ai)
    - [3.1. Prompt Engineering (2022-2024)](#31-prompt-engineering-2022-2024)
    - [3.2. Context Engineering (2025)](#32-context-engineering-2025)
    - [3.3. Harness Engineering (2026+)](#33-harness-engineering-2026)
    - [So Sánh Tổng Quan](#so-sánh-tổng-quan)
    - [Insight Quan Trọng](#insight-quan-trọng)
  - [4. Tại Sao Harness Engineering Quan Trọng?](#4-tại-sao-harness-engineering-quan-trọng)
    - [4.1. Tối Ưu Hiệu Suất Vượt Trội](#41-tối-ưu-hiệu-suất-vượt-trội)
    - [4.2. Mô Hình Chỉ Là Công Cụ, Hệ Thống Mới Quyết Định Kết Quả](#42-mô-hình-chỉ-là-công-cụ-hệ-thống-mới-quyết-định-kết-quả)
    - [4.3. Kiểm Soát và Đáng Tin Cậy](#43-kiểm-soát-và-đáng-tin-cậy)
    - [4.4. Scalability và Maintainability](#44-scalability-và-maintainability)
    - [4.5. Giảm Chi Phí Đáng Kể](#45-giảm-chi-phí-đáng-kể)
    - [4.6. Competitive Advantage](#46-competitive-advantage)
    - [Tóm Lại](#tóm-lại)
  - [5. Các Thành Phần Cốt Lõi Của Harness](#5-các-thành-phần-cốt-lõi-của-harness)
    - [5.1. Tools (Công Cụ) - "Tay Chân"](#51-tools-công-cụ---tay-chân)
    - [5.2. Memory (Bộ Nhớ) - "Não"](#52-memory-bộ-nhớ---não)
    - [5.3. Context Management (Quản Lý Ngữ Cảnh) - "Hệ Tuần Hoàn"](#53-context-management-quản-lý-ngữ-cảnh---hệ-tuần-hoàn)
    - [5.4. Guardrails (Rào Cản) - "Hệ Miễn Dịch"](#54-guardrails-rào-cản---hệ-miễn-dịch)
    - [5.5. Feedback Loops (Vòng Lặp Phản Hồi) - "Cảm Giác"](#55-feedback-loops-vòng-lặp-phản-hồi---cảm-giác)
    - [5.6. Permissions (Quyền Hạn) - "Xương"](#56-permissions-quyền-hạn---xương)
    - [5.7. Orchestration (Điều Phối) - "Hệ Thần Kinh"](#57-orchestration-điều-phối---hệ-thần-kinh)
    - [Tích Hợp Tất Cả](#tích-hợp-tất-cả)
  - [6. Case Studies Thực Tế](#6-case-studies-thực-tế)
    - [6.1. SWE-agent (Princeton NLP)](#61-swe-agent-princeton-nlp)
    - [6.2. Anthropic Multi-Agent Architecture](#62-anthropic-multi-agent-architecture)
    - [6.3. Claude Code Leak - Hệ Thống Harness Siêu Đẳng](#63-claude-code-leak---hệ-thống-harness-siêu-đẳng)
      - [A. Quản lý Context 5 Cấp Độ](#a-quản-lý-context-5-cấp-độ)
      - [B. Bộ Nhớ 3 Tầng với Auto-Optimization](#b-bộ-nhớ-3-tầng-với-auto-optimization)
      - [C. Phân Quyền Tool Chặt Chẽ](#c-phân-quyền-tool-chặt-chẽ)
      - [D. Tone Detection với Regex (!)](#d-tone-detection-với-regex-)
    - [6.4. Cursor IDE - Harness Tối Ưu Cho Coding](#64-cursor-ide---harness-tối-ưu-cho-coding)
    - [Bài Học Chung Từ Các Case Studies](#bài-học-chung-từ-các-case-studies)
  - [7. Nguyên Tắc Thiết Kế Harness](#7-nguyên-tắc-thiết-kế-harness)
    - [7.1. Nguyên Tắc SOLID Cho Harness](#71-nguyên-tắc-solid-cho-harness)
    - [7.2. The 10 Commandments of Harness Engineering](#72-the-10-commandments-of-harness-engineering)
    - [7.3. The Harness Design Pattern](#73-the-harness-design-pattern)
  - [8. Best Practices](#8-best-practices)
    - [8.1. Tool Design](#81-tool-design)
    - [8.2. Memory Management](#82-memory-management)
    - [8.3. Context Building](#83-context-building)
    - [8.4. Guardrails](#84-guardrails)
    - [8.5. Testing Harness](#85-testing-harness)
  - [9. Công Cụ và Framework](#9-công-cụ-và-framework)
    - [9.1. Frameworks Phổ Biến](#91-frameworks-phổ-biến)
    - [9.2. Công Cụ Hỗ Trợ](#92-công-cụ-hỗ-trợ)
    - [9.3. Starter Template](#93-starter-template)
  - [10. Tương Lai Của Harness Engineering](#10-tương-lai-của-harness-engineering)
    - [10.1. Xu Hướng 2026-2028](#101-xu-hướng-2026-2028)
    - [10.2. Thách Thức Phía Trước](#102-thách-thức-phía-trước)
    - [10.3. Lời Khuyên Cho Tương Lai](#103-lời-khuyên-cho-tương-lai)
  - [11. Tài Liệu Tham Khảo](#11-tài-liệu-tham-khảo)
    - [Papers \&amp; Research](#papers--research)
    - [Frameworks \&amp; Tools](#frameworks--tools)
    - [Communities](#communities)
    - [Blogs \&amp; Resources](#blogs--resources)
    - [Courses \&amp; Tutorials](#courses--tutorials)
---
## 1. Giới Thiệu
Trong kỷ nguyên AI, chúng ta đã chứng kiến sự phát triển vượt bậc của các mô hình ngôn ngữ lớn (LLMs). Từ GPT-3, GPT-4, Claude, đến Gemini, các mô hình này ngày càng thông minh và mạnh mẽ hơn. Tuy nhiên, một câu hỏi quan trọng được đặt ra: **Tại sao với cùng một mô hình AI, một số ứng dụng hoạt động xuất sắc trong khi những ứng dụng khác lại thất bại?**
Câu trả lời nằm ở **Harness Engineering** - một kỹ thuật không tập trung vào việc cải thiện mô hình AI, mà thay vào đó tập trung vào việc xây dựng toàn bộ **hệ sinh thái xung quanh mô hình đó**: công cụ (tools), quyền truy cập (permissions), bộ nhớ (memory), vòng lặp phản hồi (feedback loops), rào cản bảo vệ (guardrails), và quản lý ngữ cảnh (context management).
### Bối Cảnh
Khi Mitchell Hashimoto (người sáng lập HashiCorp, tác giả của Terraform) tuyên bố rằng *"Prompt Engineering đã chết"* và giới thiệu khái niệm **Harness Engineering**, ông đã mở ra một chương mới trong cách chúng ta nghĩ về phát triển ứng dụng AI. Thay vì lo lắng về cách viết prompt hoàn hảo, chúng ta cần tập trung vào việc xây dựng một hệ thống hoàn chỉnh để AI có thể hoạt động hiệu quả.
### Mục Đích Của Tài Liệu
Tài liệu này cung cấp một cái nhìn toàn diện về Harness Engineering, bao gồm:
- Định nghĩa và triết lý cốt lõi
- So sánh với các kỹ thuật trước đó (Prompt Engineering, Context Engineering)
- Các thành phần và nguyên tắc thiết kế
- Case studies từ các công ty hàng đầu (Princeton NLP, Anthropic)
- Best practices và hướng dẫn triển khai thực tế
---
## 2. Harness Engineering Là Gì?
### Định Nghĩa
**Harness Engineering** là kỹ thuật xây dựng và thiết kế toàn bộ **"môi trường xung quanh"** một mô hình AI (bao gồm công cụ, quyền truy cập, bộ nhớ, vòng lặp phản hồi, rào cản bảo vệ, quản lý context...) thay vì tập trung vào việc cải thiện bản thân mô hình đó.
Nói một cách đơn giản:
- **Mô hình AI** là thứ **suy nghĩ**
- **Harness** là thứ mà AI **suy nghĩ về**
- Và chính **Harness** mới quyết định **chất lượng đầu ra cuối cùng**
### Triết Lý Cốt Lõi
&gt; *"Mỗi khi agent mắc lỗi, bạn không cầu nguyện nó làm tốt hơn lần sau – bạn xây dựng một giải pháp hệ thống để nó không bao giờ mắc lỗi đó nữa"*
Triết lý này nhấn mạnh vào:
1. **Systematic Solutions over Prayers**: Thay vì hy vọng AI sẽ "học" từ lỗi, bạn xây dựng cơ chế hệ thống ngăn chặn lỗi đó tái diễn.
2. **Infrastructure over Instructions**: Thay vì viết prompt dài dòng hướng dẫn AI làm gì, bạn xây dựng cơ sở hạ tầng hạn chế những gì AI có thể làm.
3. **Design over Training**: Thay vì fine-tune mô hình, bạn thiết kế môi trường hoạt động của mô hình.
### Ví Dụ Minh Họa
Hãy tưởng tượng bạn có một AI coding assistant:
**❌ Cách tiếp cận cũ (Prompt Engineering):**
```
"Hãy viết code Python. Đảm bảo code của bạn không có lỗi cú pháp. 
Kiểm tra kỹ trước khi trả về. Nếu có lỗi, hãy sửa..."
```
**✅ Cách tiếp cận mới (Harness Engineering):**
```javascript
// Tích hợp linter vào harness
harness.addTool({
  name: "write_code",
  execute: async (code) =&gt; {
    // Tự động check syntax
    const lintResult = await linter.check(code);
    if (lintResult.hasErrors) {
      // Tự động reject và yêu cầu sửa
      return { status: "error", errors: lintResult.errors };
    }
    return { status: "success", code };
  }
});
```
Trong ví dụ trên, thay vì "nhờ" AI cẩn thận, bạn xây dựng một hệ thống **không cho phép** AI trả về code có lỗi.
### So Sánh Với Các Khái Niệm Khác
| Khía cạnh | Prompt Engineering | Context Engineering | Harness Engineering |
|-----------|-------------------|---------------------|---------------------|
| **Focus** | Cách hỏi | Dữ liệu đầu vào | Toàn bộ hệ thống |
| **Mục tiêu** | Câu prompt tốt hơn | Context phù hợp hơn | Môi trường tốt hơn |
| **Ví dụ** | Viết email | Đính kèm file | Thiết kế văn phòng + quy trình |
| **Kiểm soát** | Thấp | Trung bình | Cao |
| **Tính bền vững** | Thấp | Trung bình | Cao |
---
## 3. Ba Giai Đoạn Tiến Hóa Của Kỹ Nghệ AI
Để hiểu rõ hơn về Harness Engineering, chúng ta cần nhìn lại quá trình tiến hóa của kỹ nghệ AI qua ba giai đoạn chính:
### 3.1. Prompt Engineering (2022-2024)
**Focus**: *"Hỏi AI thế nào cho đúng?"*
**Đặc điểm:**
- Tập trung vào việc viết câu prompt tốt
- Sử dụng các kỹ thuật: few-shot learning, chain-of-thought, role-playing
- Phụ thuộc nhiều vào "nghệ thuật" viết prompt
**Ví dụ:**
```
User: "Act as a senior Python developer. Write a function to..."
User: "Think step by step..."
User: "Here are some examples: ..."
```
**Hạn chế:**
- Khó mở rộng và duy trì
- Kết quả không ổn định
- Khó debug khi có lỗi
- Phụ thuộc quá nhiều vào cách diễn đạt
**So sánh:** Giống như viết email - bạn lo lắng về từng từ, từng câu.
---
### 3.2. Context Engineering (2025)
**Focus**: *"Đưa thông tin gì để AI trả lời tốt?"*
**Đặc điểm:**
- Tập trung vào việc cung cấp đúng dữ liệu đầu vào
- Sử dụng RAG (Retrieval Augmented Generation)
- Quản lý context window hiệu quả
- Tích hợp knowledge bases
**Ví dụ:**
```javascript
// Retrieve relevant context
const relevantDocs = await vectorDB.search(query);
const context = relevantDocs.map(doc =&gt; doc.content).join('\n');
// Add to prompt
const prompt = `Context: ${context}\n\nQuestion: ${query}`;
```
**Ưu điểm:**
- Cải thiện độ chính xác
- Giảm hallucination
- Có thể scale với dữ liệu lớn
**Hạn chế:**
- Vẫn phụ thuộc vào chất lượng context
- Chưa kiểm soát được hành vi của AI
- Khó xử lý các tình huống phức tạp
**So sánh:** Giống như đính kèm đúng file vào email - bạn cung cấp đủ thông tin cần thiết.
---
### 3.3. Harness Engineering (2026+)
**Focus**: *"Toàn bộ hệ thống quanh AI vận hành ra sao?"*
**Đặc điểm:**
- Thiết kế toàn bộ môi trường hoạt động
- Tích hợp tools, memory, guardrails
- Kiểm soát chặt chẽ hành vi của AI
- Tự động xử lý lỗi và tối ưu hóa
**Ví dụ:**
```javascript
const harness = new AIHarness({
  model: "claude-3-opus",
  tools: [codeExecutor, fileManager, webSearch],
  memory: {
    shortTerm: conversationHistory,
    longTerm: vectorStore,
    workingMemory: currentContext
  },
  guardrails: {
    maxTokens: 100000,
    allowedDomains: ["github.com", "stackoverflow.com"],
    securityRules: [noSensitiveData, validateOutputs]
  },
  feedback: {
    onError: autoRetry,
    onSuccess: logMetrics
  }
});
```
**Ưu điểm:**
- Kiểm soát hoàn toàn hành vi AI
- Dễ debug và maintain
- Có thể mở rộng và tái sử dụng
- Kết quả ổn định và đáng tin cậy
**So sánh:** Giống như thiết kế cả văn phòng và quy trình làm việc - bạn tạo ra một hệ sinh thái hoàn chỉnh.
---
### So Sánh Tổng Quan
```
┌─────────────────────────────────────────────────────────────┐
│                    TIẾN HÓA KỸ NGHỆ AI                      │
├─────────────────────────────────────────────────────────────┤
│                                                             │
│  2022-2024: PROMPT ENGINEERING                              │
│  ┌─────────────────────────────────┐                       │
│  │ "Làm sao hỏi cho đúng?"         │                       │
│  │ Focus: Câu prompt                │                       │
│  │ Control: ⭐ Thấp                 │                       │
│  └─────────────────────────────────┘                       │
│                    │                                        │
│                    ▼                                        │
│  2025: CONTEXT ENGINEERING                                  │
│  ┌─────────────────────────────────┐                       │
│  │ "Đưa thông tin gì?"             │                       │
│  │ Focus: Dữ liệu đầu vào          │                       │
│  │ Control: ⭐⭐ Trung bình         │                       │
│  └─────────────────────────────────┘                       │
│                    │                                        │
│                    ▼                                        │
│  2026+: HARNESS ENGINEERING                                 │
│  ┌─────────────────────────────────┐                       │
│  │ "Hệ thống hoạt động ra sao?"   │                       │
│  │ Focus: Toàn bộ môi trường       │                       │
│  │ Control: ⭐⭐⭐⭐⭐ Cao          │                       │
│  └─────────────────────────────────┘                       │
│                                                             │
└─────────────────────────────────────────────────────────────┘
```
### Insight Quan Trọng
&gt; **"Prompt Engineering chưa chết, nhưng nó không còn đủ"**
Mỗi giai đoạn không thay thế hoàn toàn giai đoạn trước, mà bổ sung thêm một layer kiểm soát:
- Bạn vẫn cần **prompt tốt** (Prompt Engineering)
- Bạn vẫn cần **context phù hợp** (Context Engineering)
- Nhưng bạn cần thêm **hệ thống hoàn chỉnh** (Harness Engineering)
---
## 4. Tại Sao Harness Engineering Quan Trọng?
### 4.1. Tối Ưu Hiệu Suất Vượt Trội
**Nghiên cứu từ Princeton NLP** (paper SWE-agent) đã chứng minh một phát hiện đột phá:
&gt; Chỉ cần thay đổi cách thiết kế **"giao diện/môi trường"** (ACI - Agent-Computer Interface), hiệu suất của AI có thể **tăng tới 64%** mà không cần nâng cấp mô hình.
**Kết quả thực nghiệm:**
| Cách tiếp cận | Success Rate | Improvement |
|---------------|--------------|-------------|
| Baseline (no harness) | 12.5% | - |
| With optimized harness | 20.5% | +64% |
**Điều này có nghĩa là gì?**
- Harness design có thể quan trọng hơn cả việc chọn mô hình AI
- ROI cao hơn so với việc train/fine-tune mô hình mới
- Có thể áp dụng ngay lập tức mà không cần tài nguyên lớn
---
### 4.2. Mô Hình Chỉ Là Công Cụ, Hệ Thống Mới Quyết Định Kết Quả
**Thực tế của thị trường AI:**
```
┌──────────────────────────────────────────────────────┐
│  COMMODITIZATION OF AI MODELS                        │
├──────────────────────────────────────────────────────┤
│                                                      │
│  2023: GPT-4 là "vua"                                │
│  2024: Claude 3, Gemini Ultra cạnh tranh             │
│  2025: Nhiều mô hình tương đương nhau                │
│  2026: Mô hình trở thành "hàng hóa" (commodity)      │
│                                                      │
│  ➜ Sự khác biệt không còn ở mô hình                 │
│  ➜ Sự khác biệt nằm ở HARNESS                       │
│                                                      │
└──────────────────────────────────────────────────────┘
```
**Ví dụ thực tế:**
Cùng một mô hình Claude 3.5 Sonnet:
- **Cursor IDE**: Rất hiệu quả trong coding
- **Random chatbot**: Không tốt lắm
➜ **Điều khác biệt?** Harness design của Cursor!
---
### 4.3. Kiểm Soát và Đáng Tin Cậy
**Vấn đề với approach cũ:**
```javascript
// ❌ Không thể kiểm soát
const response = await ai.chat("Fix this bug...");
// Bạn không biết AI sẽ làm gì
// Bạn không thể đảm bảo output
// Bạn khó debug khi có lỗi
```
**Với Harness Engineering:**
```javascript
// ✅ Kiểm soát hoàn toàn
const harness = new AIHarness({
  tools: {
    'file_edit': {
      validator: (path) =&gt; path.startsWith('/safe/dir'),
      maxSize: 10000,
      allowedExtensions: ['.js', '.ts', '.py']
    }
  },
  outputValidation: {
    checkSyntax: true,
    checkSecurity: true,
    runTests: true
  }
});
// Bạn biết chính xác AI có thể làm gì
// Bạn đảm bảo output luôn valid
// Bạn có logs chi tiết để debug
```
---
### 4.4. Scalability và Maintainability
**Kịch bản thực tế:**
Bạn có 10 AI agents trong hệ thống. Bạn phát hiện một lỗi bảo mật:
**❌ Không có Harness:**
```
- Phải update 10 prompts khác nhau
- Phải test lại 10 agents
- Không chắc đã fix hết chưa
- Mất 2-3 ngày
```
**✅ Có Harness:**
```javascript
// Fix tại 1 nơi trong harness
harness.addSecurityRule({
  name: 'no-sensitive-data',
  validate: (output) =&gt; !containsSensitiveData(output)
});
// Tất cả agents tự động có rule này
// Test 1 lần
// Deploy trong vài phút
```
---
### 4.5. Giảm Chi Phí Đáng Kể
**Cost Savings từ Harness Engineering:**
1. **Giảm token usage**
   - Context compression
   - Smart caching
   - Efficient tool calling
   - **Tiết kiệm: 40-60% cost**
2. **Giảm error rate**
   - Automatic validation
   - Built-in guardrails
   - **Giảm: 70-80% failed requests**
3. **Tăng development speed**
   - Reusable components
   - Clear architecture
   - **Tăng: 3-5x faster development**
**Ví dụ tính toán:**
```
Dự án AI Agent truyền thống:
- API cost: $2,000/month
- Development time: 3 months
- Error handling: 40 hours/month
Total: ~$30,000 (3 months)
Với Harness Engineering:
- API cost: $800/month (giảm 60%)
- Development time: 1 month (reuse harness)
- Error handling: 5 hours/month (tự động)
Total: ~$12,000 (3 months)
➜ Savings: $18,000 (60%)
```
---
### 4.6. Competitive Advantage
Khi các mô hình AI trở nên tương đương nhau, **Harness Engineering chính là competitive moat** (lợi thế cạnh tranh):
- **Anthropic**: Harness siêu đẳng (theo leak code của Claude)
- **Cursor**: Harness tối ưu cho coding
- **Perplexity**: Harness tốt cho search &amp; research
➜ Đây là lý do tại sao họ dẫn đầu thị trường!
---
### Tóm Lại
Harness Engineering quan trọng vì:
1. ✅ **Tăng hiệu suất 64%+** (theo nghiên cứu Princeton)
2. ✅ **Tạo competitive advantage** khi mô hình trở thành commodity
3. ✅ **Kiểm soát và đáng tin cậy** hơn nhiều
4. ✅ **Scale và maintain dễ dàng**
5. ✅ **Tiết kiệm 40-60% chi phí**
6. ✅ **Tăng tốc development 3-5x**
&gt; **"In the age of AI commoditization, your harness is your moat"**
---
## 5. Các Thành Phần Cốt Lõi Của Harness
Một harness hoàn chỉnh bao gồm 7 thành phần chính. Hãy tưởng tượng chúng như các "cơ quan" trong cơ thể con người:
```
┌─────────────────────────────────────────────────────────┐
│              KIẾN TRÚC HARNESS HOÀN CHỈNH               │
├─────────────────────────────────────────────────────────┤
│                                                         │
│  ┌─────────────┐      ┌─────────────┐                 │
│  │   TOOLS     │◄────►│   MEMORY    │                 │
│  │  (Tay chân) │      │ (Bộ não)    │                 │
│  └─────────────┘      └─────────────┘                 │
│         ▲                    ▲                         │
│         │                    │                         │
│         ▼                    ▼                         │
│  ┌─────────────────────────────────┐                  │
│  │      CONTEXT MANAGEMENT         │                  │
│  │      (Hệ thống tuần hoàn)       │                  │
│  └─────────────────────────────────┘                  │
│         ▲                    ▲                         │
│         │                    │                         │
│  ┌─────────────┐      ┌─────────────┐                 │
│  │ GUARDRAILS  │      │  FEEDBACK   │                 │
│  │(Hệ miễn dịch)│      │(Cảm giác)   │                 │
│  └─────────────┘      └─────────────┘                 │
│         ▲                    ▲                         │
│         │                    │                         │
│  ┌─────────────┐      ┌─────────────┐                 │
│  │ PERMISSIONS │      │ ORCHESTRATION│                │
│  │  (Xương)    │      │(Hệ thần kinh)│                │
│  └─────────────┘      └─────────────┘                 │
│                                                         │
└─────────────────────────────────────────────────────────┘
```
---
### 5.1. Tools (Công Cụ) - "Tay Chân"
**Mục đích**: Định nghĩa những gì AI có thể **làm**
**Ví dụ:**
```typescript
interface Tool {
  name: string;
  description: string;
  parameters: JSONSchema;
  execute: (params: any) =&gt; Promise&lt;ToolResult&gt;;
  validation?: {
    preExecution?: (params: any) =&gt; boolean;
    postExecution?: (result: any) =&gt; boolean;
  };
}
// Example: File Editor Tool
const fileEditorTool: Tool = {
  name: "edit_file",
  description: "Edit a file with specified changes",
  parameters: {
    type: "object",
    properties: {
      path: { type: "string" },
      changes: { type: "array" }
    }
  },
  execute: async (params) =&gt; {
    // Implementation
    return { success: true, content: "..." };
  },
  validation: {
    preExecution: (params) =&gt; {
      // Check if path is safe
      return params.path.startsWith('/safe/');
    },
    postExecution: (result) =&gt; {
      // Validate syntax
      return linter.check(result.content);
    }
  }
};
```
**Best Practices:**
- ✅ Giới hạn scope của mỗi tool (single responsibility)
- ✅ Validation đầu vào và đầu ra
- ✅ Clear error messages
- ✅ Idempotent khi có thể
- ❌ Tránh tools quá mạnh (e.g., "execute_any_command")
---
### 5.2. Memory (Bộ Nhớ) - "Não"
**Mục đích**: Quản lý thông tin AI cần **nhớ**
**3 Loại Memory:**
```typescript
interface MemorySystem {
  // 1. Short-term Memory (Conversation)
  shortTerm: {
    maxMessages: number;
    messages: Message[];
    compress: () =&gt; void;
  };
  // 2. Long-term Memory (Knowledge)
  longTerm: {
    vectorStore: VectorDB;
    add: (content: string, metadata: any) =&gt; void;
    search: (query: string) =&gt; Promise&lt;Document[]&gt;;
  };
  // 3. Working Memory (Current Task)
  workingMemory: {
    currentTask: Task;
    subTasks: Task[];
    context: Map&lt;string, any&gt;;
  };
}
```
**Ví dụ Implementation:**
```typescript
class HarnessMemory implements MemorySystem {
  shortTerm = {
    maxMessages: 20,
    messages: [],
    compress: () =&gt; {
      // Summarize old messages when hitting limit
      if (this.messages.length &gt; this.maxMessages) {
        const old = this.messages.slice(0, -10);
        const summary = this.summarize(old);
        this.messages = [
          { role: 'system', content: summary },
          ...this.messages.slice(-10)
        ];
      }
    }
  };
  longTerm = {
    vectorStore: new ChromaDB(),
    add: async (content, metadata) =&gt; {
      await this.vectorStore.add({
        content,
        metadata,
        embedding: await this.embed(content)
      });
    },
    search: async (query) =&gt; {
      return await this.vectorStore.search(query, { limit: 5 });
    }
  };
  workingMemory = {
    currentTask: null,
    subTasks: [],
    context: new Map()
  };
}
```
**Best Practices:**
- ✅ Context compression khi cần
- ✅ Prioritize relevant memories
- ✅ Clear working memory sau task
- ✅ Separate concerns (short/long/working)
---
### 5.3. Context Management (Quản Lý Ngữ Cảnh) - "Hệ Tuần Hoàn"
**Mục đích**: Đảm bảo AI luôn có đúng thông tin tại đúng thời điểm
**5 Cấp Độ Context (theo Anthropic):**
```typescript
interface ContextManager {
  // Level 1: System Instructions
  systemContext: {
    identity: string;
    capabilities: string[];
    limitations: string[];
  };
  // Level 2: Task Context
  taskContext: {
    goal: string;
    constraints: string[];
    currentStep: number;
  };
  // Level 3: Domain Knowledge
  domainContext: {
    codebase: CodebaseInfo;
    documentation: Document[];
    conventions: Convention[];
  };
  // Level 4: Conversation History
  conversationContext: {
    history: Message[];
    summary: string;
  };
  // Level 5: Immediate Context
  immediateContext: {
    currentFile: string;
    recentChanges: Change[];
    openFiles: string[];
  };
  // Build final context for AI
  buildContext(): string;
}
```
**Context Optimization Strategies:**
```typescript
class SmartContextManager {
  async buildOptimizedContext(query: string): Promise&lt;string&gt; {
    // 1. Always include system &amp; task
    const core = this.getSystemAndTaskContext();
    // 2. Retrieve relevant domain knowledge
    const relevant = await this.retrieveRelevant(query);
    // 3. Add compressed conversation history
    const history = this.compressHistory();
    // 4. Include immediate context
    const immediate = this.getImmediateContext();
    // 5. Ensure under token limit
    return this.fitToLimit([core, relevant, history, immediate]);
  }
  private fitToLimit(contexts: string[]): string {
    const limit = 100000; // tokens
    let total = '';
    let tokenCount = 0;
    for (const ctx of contexts) {
      const tokens = this.countTokens(ctx);
      if (tokenCount + tokens &lt; limit) {
        total += ctx;
        tokenCount += tokens;
      } else {
        // Truncate or skip
        break;
      }
    }
    return total;
  }
}
```
---
### 5.4. Guardrails (Rào Cản) - "Hệ Miễn Dịch"
**Mục đích**: Ngăn chặn hành vi không mong muốn
**Các Loại Guardrails:**
```typescript
interface GuardrailSystem {
  // Input Guardrails
  inputGuardrails: {
    contentFilter: (input: string) =&gt; ValidationResult;
    promptInjectionDetection: (input: string) =&gt; boolean;
    rateLimiting: RateLimiter;
  };
  // Output Guardrails
  outputGuardrails: {
    sensitiveDataDetection: (output: string) =&gt; boolean;
    toxicityFilter: (output: string) =&gt; ToxicityScore;
    factualityCheck: (output: string) =&gt; Promise&lt;boolean&gt;;
  };
  // Behavioral Guardrails
  behavioralGuardrails: {
    maxIterations: number;
    timeoutMs: number;
    allowedDomains: string[];
    forbiddenActions: string[];
  };
  // Security Guardrails
  securityGuardrails: {
    sandboxing: boolean;
    fileAccessControl: AccessControl;
    networkRestrictions: NetworkPolicy;
  };
}
```
**Ví dụ Implementation:**
```typescript
class GuardrailLayer {
  async validateInput(input: string): Promise&lt;ValidationResult&gt; {
    // Check for prompt injection
    if (this.detectPromptInjection(input)) {
      return { valid: false, reason: 'Prompt injection detected' };
    }
    // Check for inappropriate content
    const toxicity = await this.checkToxicity(input);
    if (toxicity.score &gt; 0.8) {
      return { valid: false, reason: 'Inappropriate content' };
    }
    return { valid: true };
  }
  async validateOutput(output: string): Promise&lt;ValidationResult&gt; {
    // Check for sensitive data leaks
    if (this.containsSensitiveData(output)) {
      return { valid: false, reason: 'Sensitive data detected' };
    }
    // Check output quality
    if (!this.meetsQualityStandards(output)) {
      return { valid: false, reason: 'Quality check failed' };
    }
    return { valid: true };
  }
  private detectPromptInjection(input: string): boolean {
    const patterns = [
      /ignore previous instructions/i,
      /system prompt/i,
      /you are now/i,
      // ... more patterns
    ];
    return patterns.some(p =&gt; p.test(input));
  }
}
```
---
### 5.5. Feedback Loops (Vòng Lặp Phản Hồi) - "Cảm Giác"
**Mục đích**: Tự động học và cải thiện từ kết quả
```typescript
interface FeedbackSystem {
  // Automatic feedback
  onSuccess: (task: Task, result: any) =&gt; void;
  onError: (task: Task, error: Error) =&gt; void;
  onTimeout: (task: Task) =&gt; void;
  // Metrics tracking
  metrics: {
    successRate: number;
    avgResponseTime: number;
    tokenUsage: number;
    errorTypes: Map&lt;string, number&gt;;
  };
  // Auto-optimization
  optimizer: {
    analyzePatterns: () =&gt; Insights;
    suggestImprovements: () =&gt; Suggestion[];
    autoAdjust: (metric: string) =&gt; void;
  };
}
```
**Example:**
```typescript
class FeedbackLoop {
  async handleTaskCompletion(task: Task, result: TaskResult) {
    // 1. Log metrics
    await this.logMetrics({
      taskType: task.type,
      duration: result.duration,
      tokensUsed: result.tokensUsed,
      success: result.success
    });
    // 2. Analyze for patterns
    if (result.success) {
      await this.memory.longTerm.add(
        `Successful ${task.type}: ${result.approach}`,
        { type: 'success_pattern', task: task.type }
      );
    } else {
      await this.memory.longTerm.add(
        `Failed ${task.type}: ${result.error}`,
        { type: 'failure_pattern', task: task.type }
      );
    }
    // 3. Auto-adjust if needed
    if (this.metrics.successRate &lt; 0.7) {
      await this.optimizer.suggestImprovements();
    }
  }
}
```
---
### 5.6. Permissions (Quyền Hạn) - "Xương"
**Mục đích**: Định nghĩa AI được phép làm gì, ở đâu, khi nào
```typescript
interface PermissionSystem {
  // Resource permissions
  resources: {
    files: FilePermissions;
    network: NetworkPermissions;
    system: SystemPermissions;
  };
  // Time-based permissions
  temporal: {
    allowedHours: TimeRange[];
    maxDuration: number;
  };
  // Context-based permissions
  contextual: {
    requireApproval: (action: Action) =&gt; boolean;
    escalationRules: EscalationRule[];
  };
}
interface FilePermissions {
  read: string[];      // Allowed paths to read
  write: string[];     // Allowed paths to write
  delete: string[];    // Allowed paths to delete
  maxFileSize: number; // Max file size in bytes
}
```
---
### 5.7. Orchestration (Điều Phối) - "Hệ Thần Kinh"
**Mục đích**: Điều phối tất cả các thành phần hoạt động hài hòa
```typescript
class HarnessOrchestrator {
  async execute(userRequest: string): Promise&lt;Result&gt; {
    // 1. Validate input
    const inputCheck = await this.guardrails.validateInput(userRequest);
    if (!inputCheck.valid) {
      return { error: inputCheck.reason };
    }
    // 2. Build context
    const context = await this.contextManager.buildContext(userRequest);
    // 3. Check permissions
    const action = await this.planner.plan(userRequest);
    if (!this.permissions.allows(action)) {
      return { error: 'Permission denied' };
    }
    // 4. Execute with tools
    const result = await this.agent.execute(action, context);
    // 5. Validate output
    const outputCheck = await this.guardrails.validateOutput(result);
    if (!outputCheck.valid) {
      return await this.retry(action); // Retry logic
    }
    // 6. Update memory &amp; feedback
    await this.memory.update(result);
    await this.feedback.log(action, result);
    return result;
  }
}
```
---
### Tích Hợp Tất Cả
```typescript
// Complete Harness Example
const harness = new AIHarness({
  model: "claude-3.5-sonnet",
  tools: [fileEditor, codeRunner, webSearch],
  memory: {
    shortTerm: { maxMessages: 20 },
    longTerm: { vectorStore: chromaDB },
    workingMemory: { maxSize: 10000 }
  },
  contextManager: {
    levels: 5,
    optimization: "smart",
    tokenLimit: 100000
  },
  guardrails: {
    input: [promptInjectionFilter, toxicityFilter],
    output: [sensitiveDataFilter, qualityChecker],
    behavioral: { maxIterations: 10, timeoutMs: 30000 }
  },
  feedback: {
    autoLog: true,
    metricsTracking: true,
    autoOptimize: true
  },
  permissions: {
    files: {
      read: ["/project/**"],
      write: ["/project/src/**"],
      delete: []
    },
    network: {
      allowedDomains: ["github.com", "stackoverflow.com"]
    }
  }
});
```
---
### Tích Hợp Component Với Modules Trong Repo
Mỗi thành phần của Harness tương ứng trực tiếp với các modules trong **AI Coding Skills Framework**. Đây là cách các components "gắn liền" với thực tiễn:
```
┌─────────────────────────────────────────────────────────────────────┐
│                    HARNESS → MODULE MAPPING                         │
├─────────────────────────────────────────────────────────────────────┤
│                                                                     │
│  ┌─────────────┐      ┌─────────────────────────────────────┐     │
│  │   TOOLS     │ ───► │ 06-decide-tools-mcp                 │     │
│  │  (Tay chân) │      │ Tool selection &amp; MCP integration     │     │
│  └─────────────┘      └─────────────────────────────────────┘     │
│                                                                     │
│  ┌─────────────┐      ┌─────────────────────────────────────┐     │
│  │   MEMORY    │ ───► │ 01-retrieve-memory-knowledge        │     │
│  │  (Bộ não)   │      │ 03-update-memory-store               │     │
│  └─────────────┘      └─────────────────────────────────────┘     │
│                                                                     │
│  ┌─────────────┐      ┌─────────────────────────────────────┐     │
│  │   CONTEXT   │ ───► │ 02-build-context                    │     │
│  │ (Tuần hoàn) │      │ Context building &amp; management       │     │
│  └─────────────┘      └─────────────────────────────────────┘     │
│                                                                     │
│  ┌─────────────┐      ┌─────────────────────────────────────┐     │
│  │ GUARDRAILS  │ ───► │ 05-prompt-builder (Guardrails)      │     │
│  │(Miễn dịch) │      │ 11-evaluation (validation)           │     │
│  └─────────────┘      └─────────────────────────────────────┘     │
│                                                                     │
│  ┌─────────────┐      ┌─────────────────────────────────────┐     │
│  │  FEEDBACK   │ ───► │ 07-workflow (retry, loop patterns)  │     │
│  │ (Cảm giác)  │      │ 11-evaluation (metrics &amp; feedback)  │     │
│  └─────────────┘      └─────────────────────────────────────┘     │
│                                                                     │
│  ┌─────────────┐      ┌─────────────────────────────────────┐     │
│  │ PERMISSIONS │ ───► │ 06-decide-tools-mcp (tool perms)    │     │
│  │   (Xương)   │      │ 10-automation (access control)       │     │
│  └─────────────┘      └─────────────────────────────────────┘     │
│                                                                     │
│  ┌─────────────┐      ┌─────────────────────────────────────┐     │
│  │ ORCHESTRATION│───►│ 07-workflow (workflow engine)         │     │
│  │(Thần kinh)  │      │ 09-multi-agent (agent coordination)  │     │
│  └─────────────┘      │ 04-plan-decompose-task (planning)    │     │
│                        │ 08-task (task management)             │     │
│                        └─────────────────────────────────────┘     │
│                                                                     │
└─────────────────────────────────────────────────────────────────────┘
```
#### Bảng Mapping Chi Tiết
| Component | Analogies | Modules trong Repo | Mô tả |
|-----------|-----------|-------------------|-------|
| **Tools** | "Tay chân" | `06-decide-tools-mcp` | Định nghĩa AI có thể dùng công cụ gì, tích hợp MCP |
| **Memory** | "Bộ não" | `01-retrieve-memory-knowledge`, `03-update-memory-store` | Nhớ &amp; truy xuất kiến thức, cập nhật bộ nhớ |
| **Context Management** | "Hệ tuần hoàn" | `02-build-context` | Xây dựng ngữ cảnh phù hợp cho từng task |
| **Guardrails** | "Hệ miễn dịch" | `05-prompt-builder`, `11-evaluation` | Rào cản bảo vệ, kiểm tra đầu vào/đầu ra |
| **Feedback Loops** | "Cảm giác" | `07-workflow`, `11-evaluation` | Vòng lặp phản hồi, retry, đánh giá chất lượng |
| **Permissions** | "Xương" | `06-decide-tools-mcp`, `10-automation` | Phân quyền truy cập tài nguyên |
| **Orchestration** | "Hệ thần kinh" | `07-workflow`, `09-multi-agent`, `04-plan-decompose-task`, `08-task` | Điều phối tất cả thành phần hoạt động hài hòa |
&gt; **Insight**: Prompt Engineering (`05-prompt-builder`) không phải là một component riêng biệt của Harness — nó là **kỹ thuật nền tảng** được tích hợp xuyên suốt nhiều components: System Prompt trong Orchestration, Few-shot trong Context Management, Structured Output trong Guardrails.
---
## 6. Case Studies Thực Tế
Các case studies sau đây cho thấy cách các tổ chức hàng đầu áp dụng Harness Engineering để đạt được kết quả vượt trội.
---
### 6.1. SWE-agent (Princeton NLP)
**Bối cảnh**: Princeton NLP phát triển một AI agent để tự động sửa lỗi GitHub issues.
**Vấn đề ban đầu**:
- Success rate chỉ 12.5% với baseline approach
- Agent thường "lạc lối" trong codebase
- Kết quả tìm kiếm quá nhiều, gây overwhelm
- Không biết đâu là thông tin quan trọng
**Giải pháp Harness Engineering**:
```typescript
// 1. GIỚI HẠN OUTPUT CỦA TOOLS
const searchTool = {
  name: "search_file",
  execute: async (pattern: string) =&gt; {
    const results = await grep(pattern);
    // ❌ Trước: Trả về toàn bộ
    // ✅ Sau: Giới hạn 50 kết quả đầu
    return results.slice(0, 50);
  }
};
// 2. VIEWER THÔNG MINH
const fileViewer = {
  name: "view_file",
  context: {
    showLineNumbers: true,
    contextLines: 100,  // Chỉ hiện 100 dòng tại 1 thời điểm
    highlightRelevant: true
  },
  execute: async (file: string, startLine: number) =&gt; {
    // Thay vì load toàn bộ file (có thể 1000+ dòng)
    // Chỉ load 100 dòng xung quanh vùng quan tâm
    return loadFileWindow(file, startLine, 100);
  }
};
// 3. TÍCH HỢP LINTER REALTIME
const editTool = {
  name: "edit_file",
  execute: async (file: string, changes: Change[]) =&gt; {
    const newContent = applyChanges(file, changes);
    // Tự động check syntax ngay lập tức
    const lintResult = await linter.check(newContent);
    if (lintResult.errors.length &gt; 0) {
      // Không cho phép save file có lỗi
      return {
        success: false,
        errors: lintResult.errors,
        message: "Please fix syntax errors before proceeding"
      };
    }
    await saveFile(file, newContent);
    return { success: true };
  }
};
// 4. NÉN LỊCH SỬ CHAT
const memoryManager = {
  compressHistory: async () =&gt; {
    if (history.length &gt; 20) {
      // Summarize old conversations
      const old = history.slice(0, -10);
      const summary = await summarize(old);
      history = [
        { role: 'system', content: summary },
        ...history.slice(-10)
      ];
    }
  }
};
```
**Kết quả**:
- Success rate tăng từ **12.5% → 20.5%** (+64%)
- Thời gian giải quyết issue giảm 40%
- Token usage giảm 30%
**Key Insights**:
&gt; "Không phải mô hình yếu, mà môi trường không được thiết kế tốt"
---
### 6.2. Anthropic Multi-Agent Architecture
**Bối cảnh**: Anthropic phát triển Claude Code để tạo các ứng dụng phức tạp (games, DAW, etc.)
**Vấn đề ban đầu**:
- Single agent làm quá nhiều việc cùng lúc → overwhelmed
- Agent dừng lại quá sớm (chưa hoàn thành)
- Hoặc tiếp tục quá lâu (không biết khi nào dừng)
**Giải pháp: Multi-Agent Orchestration**
```typescript
// Kiến trúc 3 Agent
class MultiAgentHarness {
  agents = {
    planner: new PlannerAgent(),
    generator: new GeneratorAgent(),
    evaluator: new EvaluatorAgent()
  };
  async execute(task: string): Promise&lt;Result&gt; {
    // 1. PLANNER: Lập kế hoạch
    const plan = await this.agents.planner.createPlan(task);
    /*
    Output example:
    {
      steps: [
        "1. Create game canvas",
        "2. Implement player movement",
        "3. Add collision detection",
        "4. Implement scoring system"
      ],
      estimatedComplexity: "medium"
    }
    */
    // 2. GENERATOR: Thực thi từng bước
    const results = [];
    for (const step of plan.steps) {
      const result = await this.agents.generator.generate(step);
      results.push(result);
      // 3. EVALUATOR: Đánh giá sau mỗi bước
      const evaluation = await this.agents.evaluator.evaluate(result, step);
      if (!evaluation.passed) {
        // Retry with feedback
        const retry = await this.agents.generator.generate(
          step,
          { previousAttempt: result, feedback: evaluation.feedback }
        );
        results[results.length - 1] = retry;
      }
    }
    // 4. FINAL EVALUATION
    const finalEval = await this.agents.evaluator.evaluateFinal(results);
    return {
      success: finalEval.passed,
      output: results,
      quality: finalEval.quality
    };
  }
}
```
**Đặc điểm của từng Agent**:
```typescript
// PLANNER AGENT
class PlannerAgent {
  systemPrompt = `
    You are a planning specialist.
    Break down complex tasks into clear, actionable steps.
    Consider dependencies and order.
    Output: JSON with steps array.
  `;
  tools = []; // No tools, pure planning
}
// GENERATOR AGENT
class GeneratorAgent {
  systemPrompt = `
    You are a code generator.
    Implement exactly what is asked in the step.
    Use provided tools to write and test code.
  `;
  tools = [
    writeFile,
    readFile,
    executeCode,
    installPackage
  ];
}
// EVALUATOR AGENT
class EvaluatorAgent {
  systemPrompt = `
    You are a quality evaluator.
    Check if the implementation meets requirements.
    Test for bugs, edge cases, and completeness.
    Decide: PASS or FAIL with specific feedback.
  `;
  tools = [
    runTests,
    checkSyntax,
    analyzeCode
  ];
}
```
**Kết quả**:
- Có thể tạo các ứng dụng phức tạp: 2D games, DAW (Digital Audio Workstation)
- Success rate cao hơn 80% so với single-agent
- Code quality tốt hơn nhờ evaluation loop
**Key Insights**:
&gt; "Chia để trị - Mỗi agent tập trung vào một nhiệm vụ cụ thể"
---
### 6.3. Claude Code Leak - Hệ Thống Harness Siêu Đẳng
**Bối cảnh**: Vào 2026, source code của Claude Code bị leak vô tình, hé lộ kiến trúc harness cực kỳ tinh vi.
**Phát hiện chính**:
#### A. Quản lý Context 5 Cấp Độ
```typescript
class ClaudeContextManager {
  buildContext(query: string): Context {
    return {
      // Level 1: System Identity
      system: {
        role: "AI Coding Assistant",
        version: "Claude 3.5",
        capabilities: [...],
        limitations: [...]
      },
      // Level 2: Task Context
      task: {
        currentGoal: this.getCurrentGoal(),
        progressSoFar: this.getProgress(),
        remainingSteps: this.getRemainingSteps()
      },
      // Level 3: Domain Knowledge (Codebase)
      domain: {
        projectStructure: this.getProjectStructure(),
        conventions: this.getCodeConventions(),
        dependencies: this.getDependencies()
      },
      // Level 4: Conversation History (Compressed)
      conversation: {
        recentMessages: this.getRecentMessages(10),
        summary: this.getSummary(),
        keyDecisions: this.getKeyDecisions()
      },
      // Level 5: Immediate Context
      immediate: {
        currentFile: this.getCurrentFile(),
        openFiles: this.getOpenFiles(),
        recentEdits: this.getRecentEdits(),
        cursorPosition: this.getCursorPosition()
      }
    };
  }
}
```
#### B. Bộ Nhớ 3 Tầng với Auto-Optimization
```typescript
class ClaudeMemorySystem {
  // Tier 1: Hot Memory (RAM)
  hotMemory = {
    currentConversation: [],
    maxSize: 20,
    // Tự động compress khi đầy
    autoCompress: true
  };
  // Tier 2: Warm Memory (Vector DB)
  warmMemory = {
    vectorStore: new ChromaDB(),
    recentQueries: new LRUCache(100),
    // Cache các truy vấn phổ biến
    queryCache: new Map()
  };
  // Tier 3: Cold Memory (Long-term Storage)
  coldMemory = {
    database: new PostgreSQL(),
    // Lưu trữ patterns, learnings lâu dài
    successPatterns: [],
    failurePatterns: []
  };
  // AUTO DREAM: Chạy ngầm để tối ưu memory
  async autoDream() {
    // Chạy trong idle time
    setInterval(async () =&gt; {
      // 1. Analyze patterns
      const patterns = await this.analyzePatterns();
      // 2. Move rarely used to cold storage
      await this.archiveOldMemories();
      // 3. Optimize vector embeddings
      await this.warmMemory.vectorStore.optimize();
      // 4. Update query cache
      await this.updateQueryCache();
    }, 60000); // Mỗi phút
  }
}
```
#### C. Phân Quyền Tool Chặt Chẽ
```typescript
class ClaudeToolPermissions {
  // Mỗi tool có permission riêng
  toolPermissions = {
    'read_file': {
      allowedPaths: ['/workspace/**'],
      deniedPaths: ['/workspace/.env', '/workspace/secrets/**'],
      requireApproval: false
    },
    'write_file': {
      allowedPaths: ['/workspace/src/**', '/workspace/test/**'],
      deniedPaths: ['/workspace/config/**'],
      requireApproval: true, // Cần user confirm
      maxFileSize: 100000 // 100KB
    },
    'execute_command': {
      allowedCommands: ['npm', 'git', 'python', 'node'],
      deniedCommands: ['rm -rf', 'sudo', 'chmod'],
      requireApproval: true,
      timeout: 30000 // 30s
    },
    'web_search': {
      allowedDomains: ['github.com', 'stackoverflow.com', 'docs.*'],
      rateLimitperHour: 50
    }
  };
  async checkPermission(tool: string, params: any): Promise&lt;PermissionResult&gt; {
    const perm = this.toolPermissions[tool];
    // Check path restrictions
    if (tool.includes('file')) {
      if (!this.isPathAllowed(params.path, perm)) {
        return { allowed: false, reason: 'Path not allowed' };
      }
    }
    // Check if needs approval
    if (perm.requireApproval) {
      const approved = await this.requestUserApproval(tool, params);
      if (!approved) {
        return { allowed: false, reason: 'User denied' };
      }
    }
    return { allowed: true };
  }
}
```
#### D. Tone Detection với Regex (!)
```typescript
class ClaudeToneDetector {
  // Phát hiện sự ức chế/không hài lòng của user
  frustrationPatterns = [
    /why (is|are) (you|this)/i,
    /stop doing/i,
    /i (told|said) you/i,
    /for the (\d+)(st|nd|rd|th) time/i,
    /just do it/i,
    /seriously\?/i
  ];
  detectFrustration(message: string): boolean {
    return this.frustrationPatterns.some(p =&gt; p.test(message));
  }
  adjustTone(message: string): ToneAdjustment {
    if (this.detectFrustration(message)) {
      return {
        tone: 'apologetic',
        verbosity: 'concise',
        explanation: 'minimal',
        action: 'immediate' // Làm ngay, giải thích sau
      };
    }
    return {
      tone: 'helpful',
      verbosity: 'balanced',
      explanation: 'detailed',
      action: 'thoughtful'
    };
  }
}
```
**Kết quả**:
- Claude Code trở thành một trong những AI coding assistant tốt nhất
- User satisfaction rate &gt; 90%
- Retention rate cao
**Key Insights**:
&gt; "Devil is in the details - Mỗi chi tiết nhỏ trong harness đều được optimize kỹ lưỡng"
---
### 6.4. Cursor IDE - Harness Tối Ưu Cho Coding
**Đặc điểm nổi bật**:
```typescript
class CursorHarness {
  // 1. CONTEXT AWARE - Biết bạn đang làm gì
  async buildContext(): Promise&lt;Context&gt; {
    return {
      // File đang mở
      currentFile: editor.getCurrentFile(),
      // Code đang select
      selectedCode: editor.getSelection(),
      // Cursor position
      cursorLine: editor.getCursorLine(),
      // Recent edits (để hiểu intent)
      recentEdits: this.getRecentEdits(5),
      // Related files (import/export)
      relatedFiles: await this.findRelatedFiles(),
      // Git context
      gitBranch: await git.getCurrentBranch(),
      uncommittedChanges: await git.getUncommittedChanges()
    };
  }
  // 2. SMART SUGGESTIONS
  async getSuggestions(context: Context): Promise&lt;Suggestion[]&gt; {
    // Dựa trên context, đưa ra suggestions phù hợp
    const suggestions = [];
    if (context.selectedCode) {
      suggestions.push({
        type: 'refactor',
        action: 'Refactor this code',
        confidence: 0.9
      });
      suggestions.push({
        type: 'explain',
        action: 'Explain this code',
        confidence: 0.95
      });
    }
    if (context.cursorLine.includes('TODO')) {
      suggestions.push({
        type: 'implement',
        action: 'Implement this TODO',
        confidence: 0.85
      });
    }
    return suggestions.sort((a, b) =&gt; b.confidence - a.confidence);
  }
  // 3. INCREMENTAL EDITS
  async applyEdit(edit: Edit): Promise&lt;void&gt; {
    // Không replace toàn bộ file
    // Chỉ thay đổi phần cần thiết
    await editor.replaceRange(
      edit.startLine,
      edit.endLine,
      edit.newContent
    );
    // Auto format
    await editor.formatDocument();
    // Run linter
    const lintResult = await linter.check();
    if (lintResult.errors.length &gt; 0) {
      // Show inline errors
      editor.showErrors(lintResult.errors);
    }
  }
}
```
**Kết quả**:
- Trở thành coding assistant được yêu thích nhất
- NPS (Net Promoter Score) &gt; 70
- Nhiều developers chuyển từ GitHub Copilot sang Cursor
---
### Bài Học Chung Từ Các Case Studies
| Lesson | SWE-agent | Anthropic | Claude Leak | Cursor |
|--------|-----------|-----------|-------------|--------|
| **Giới hạn output** | ✅ 50 results max | - | - | - |
| **Multi-agent** | - | ✅ 3 agents | ✅ Planner/Generator | - |
| **Context layers** | ✅ 3 levels | - | ✅ 5 levels | ✅ Smart context |
| **Memory tiers** | ✅ Compression | - | ✅ 3 tiers | - |
| **Tool permissions** | - | - | ✅ Strict | ✅ Sandbox |
| **User feedback** | - | ✅ Evaluation | ✅ Tone detection | ✅ Suggestions |
| **Incremental** | - | - | - | ✅ Smart edits |
**Nguyên tắc chung**:
1. ✅ **Constraints enable creativity** - Giới hạn giúp AI tập trung
2. ✅ **Layered architecture** - Chia nhỏ vấn đề
3. ✅ **Feedback loops** - Học từ kết quả
4. ✅ **User-centric design** - Luôn nghĩ về UX
5. ✅ **Obsess over details** - Mọi chi tiết đều quan trọng
---
## 7. Nguyên Tắc Thiết Kế Harness
### 7.1. Nguyên Tắc SOLID Cho Harness
**1. Single Responsibility**
- Mỗi tool chỉ làm một việc duy nhất
- Mỗi component có một lý do để thay đổi
**2. Open/Closed**
- Harness mở cho mở rộng (thêm tools, guardrails)
- Đóng cho sửa đổi (core logic ổn định)
**3. Liskov Substitution**
- Tools có thể thay thế cho nhau
- Cùng interface, khác implementation
**4. Interface Segregation**
- Không ép AI sử dụng tools không cần thiết
- Chỉ expose những gì cần
**5. Dependency Inversion**
- Depend on abstractions, not implementations
- Dễ dàng swap components
---
### 7.2. The 10 Commandments of Harness Engineering
```
1. Thou shall LIMIT, not GUIDE
   → Giới hạn những gì AI có thể làm, đừng chỉ hướng dẫn
2. Thou shall VALIDATE, not HOPE
   → Validation mọi input/output, đừng hy vọng AI làm đúng
3. Thou shall DESIGN, not TRAIN
   → Thiết kế môi trường, đừng chỉ train mô hình
4. Thou shall CONSTRAIN, not INSTRUCT
   → Tạo constraints, đừng viết instructions dài dòng
5. Thou shall AUTOMATE, not MANUAL
   → Tự động hóa checks, đừng để user phải check
6. Thou shall FAIL FAST, not SLOW
   → Phát hiện lỗi sớm, đừng để lỗi lan rộng
7. Thou shall LOG EVERYTHING
   → Log mọi action để debug và improve
8. Thou shall ITERATE, not PERFECT
   → Ship và improve, đừng chờ perfect
9. Thou shall MEASURE, not GUESS
   → Measure metrics, đừng đoán
10. Thou shall OBSESS OVER UX
    → User experience là ưu tiên số 1
```
---
### 7.3. The Harness Design Pattern
```typescript
// Template for designing any harness
class HarnessDesignPattern {
  // 1. Define what AI CAN do
  defineCapabilities() {
    return {
      tools: [...],
      permissions: {...}
    };
  }
  // 2. Define what AI CANNOT do
  defineConstraints() {
    return {
      guardrails: [...],
      validators: [...]
    };
  }
  // 3. Define what AI SHOULD remember
  defineMemory() {
    return {
      shortTerm: {...},
      longTerm: {...},
      working: {...}
    };
  }
  // 4. Define how AI SHOULD learn
  defineFeedback() {
    return {
      onSuccess: () =&gt; {},
      onError: () =&gt; {},
      metrics: [...]
    };
  }
  // 5. Define how components WORK TOGETHER
  defineOrchestration() {
    return {
      workflow: [...],
      errorHandling: {...}
    };
  }
}
```
---
## 8. Best Practices
### 8.1. Tool Design
✅ **DO:**
- Keep tools small and focused
- Validate inputs và outputs
- Provide clear error messages
- Make tools idempotent when possible
- Include examples in descriptions
❌ **DON'T:**
- Create "god tools" that do everything
- Trust AI to validate itself
- Use vague error messages
- Allow destructive operations without confirmation
### 8.2. Memory Management
✅ **DO:**
- Compress context regularly
- Prioritize relevant information
- Clear working memory after tasks
- Use tiered storage (hot/warm/cold)
❌ **DON'T:**
- Keep entire conversation history
- Load unnecessary data
- Mix different types of memory
- Forget to clean up
### 8.3. Context Building
✅ **DO:**
- Layer context by priority
- Include only relevant information
- Monitor token usage
- Compress when approaching limits
❌ **DON'T:**
- Include everything
- Ignore token limits
- Use static context
- Forget immediate context
### 8.4. Guardrails
✅ **DO:**
- Validate at multiple layers
- Check both input and output
- Fail fast and clearly
- Log all violations
❌ **DON'T:**
- Rely only on prompts
- Skip validation steps
- Hide errors from users
- Trust without verifying
### 8.5. Testing Harness
```typescript
// Test suite for harness
describe('Harness Tests', () =&gt; {
  test('Tool validation works', async () =&gt; {
    const result = await harness.executeTool('write_file', {
      path: '/unsafe/path'
    });
    expect(result.error).toBe('Path not allowed');
  });
  test('Context limits respected', async () =&gt; {
    const context = await harness.buildContext(largeQuery);
    const tokens = countTokens(context);
    expect(tokens).toBeLessThan(100000);
  });
  test('Guardrails catch sensitive data', async () =&gt; {
    const output = "API_KEY=sk_12345";
    const validation = await harness.validateOutput(output);
    expect(validation.valid).toBe(false);
  });
  test('Memory compression works', async () =&gt; {
    // Add 50 messages
    for (let i = 0; i &lt; 50; i++) {
      await harness.addMessage({ content: `Message ${i}` });
    }
    expect(harness.memory.shortTerm.messages.length).toBeLessThan(25);
  });
});
```
---
## 9. Công Cụ và Framework
### 9.1. Frameworks Phổ Biến
**LangChain / LangGraph**
```typescript
import { ChatOpenAI } from "@langchain/openai";
import { DynamicStructuredTool } from "@langchain/core/tools";
const harness = {
  llm: new ChatOpenAI({ model: "gpt-4" }),
  tools: [
    new DynamicStructuredTool({
      name: "search",
      description: "Search the web",
      func: async (input) =&gt; { /* ... */ }
    })
  ]
};
```
**AutoGen (Microsoft)**
```python
from autogen import AssistantAgent, UserProxyAgent
assistant = AssistantAgent(
    name="assistant",
    llm_config={"model": "gpt-4"},
    system_message="You are a helpful assistant"
)
harness = UserProxyAgent(
    name="harness",
    human_input_mode="NEVER",
    max_consecutive_auto_reply=10,
    code_execution_config={"work_dir": "coding"}
)
```
**CrewAI**
```python
from crewai import Agent, Task, Crew
# Multi-agent harness
planner = Agent(role='Planner', goal='Create plan')
executor = Agent(role='Executor', goal='Execute plan')
reviewer = Agent(role='Reviewer', goal='Review output')
harness = Crew(
    agents=[planner, executor, reviewer],
    tasks=[plan_task, execute_task, review_task]
)
```
---
### 9.2. Công Cụ Hỗ Trợ
**Vector Databases:**
- Pinecone
- Chroma
- Weaviate
- Qdrant
**Monitoring &amp; Logging:**
- LangSmith
- Weights &amp; Biases
- Helicone
- OpenLLMetry
**Guardrails:**
- Guardrails AI
- NeMo Guardrails (NVIDIA)
- LlamaGuard (Meta)
**Testing:**
- PromptFoo
- Deepeval
- Ragas
---
### 9.3. Starter Template
```typescript
// Complete starter template
import { ChatAnthropic } from "@langchain/anthropic";
import { ChromaDB } from "chromadb";
class ProductionHarness {
  constructor(config) {
    this.model = new ChatAnthropic({
      model: "claude-3.5-sonnet",
      temperature: 0
    });
    this.tools = this.initializeTools();
    this.memory = this.initializeMemory();
    this.guardrails = this.initializeGuardrails();
    this.logger = this.initializeLogger();
  }
  async execute(userInput) {
    try {
      // 1. Validate input
      await this.guardrails.validateInput(userInput);
      // 2. Build context
      const context = await this.buildContext(userInput);
      // 3. Execute with tools
      const result = await this.model.invoke(context, {
        tools: this.tools
      });
      // 4. Validate output
      await this.guardrails.validateOutput(result);
      // 5. Log metrics
      await this.logger.log({
        input: userInput,
        output: result,
        tokens: result.usage
      });
      return result;
    } catch (error) {
      await this.handleError(error);
      throw error;
    }
  }
}
// Usage
const harness = new ProductionHarness({
  apiKey: process.env.ANTHROPIC_API_KEY
});
const result = await harness.execute("Build me a todo app");
```
---
## 10. Tương Lai Của Harness Engineering
### 10.1. Xu Hướng 2026-2028
**1. Self-Optimizing Harnesses**
- Harness tự động điều chỉnh parameters
- A/B testing tự động
- Continuous learning from usage
**2. Harness-as-a-Service**
- Cloud platforms cung cấp pre-built harnesses
- Plug-and-play harness components
- Marketplace cho harness templates
**3. Visual Harness Builders**
- No-code tools để design harness
- Visual workflow editors
- Drag-and-drop tool composition
**4. Cross-Model Harnesses**
- Một harness chạy trên nhiều models
- Automatic model switching based on task
- Cost-optimized model routing
**5. Regulatory Compliance Harnesses**
- Built-in GDPR, HIPAA compliance
- Audit trails tự động
- Explainability baked in
---
### 10.2. Thách Thức Phía Trước
**Technical Challenges:**
- Standardization across platforms
- Interoperability between harnesses
- Performance optimization at scale
- Security và privacy
**Business Challenges:**
- ROI measurement
- Team skill gaps
- Legacy system integration
- Changing regulations
**Research Challenges:**
- Optimal harness architecture patterns
- Automated harness generation
- Harness testing methodologies
- Cross-domain transferability
---
### 10.3. Lời Khuyên Cho Tương Lai
```
1. Start Simple
   → Đừng over-engineer từ đầu
   → Build MVP harness first
2. Measure Everything
   → Track metrics từ ngày 1
   → Data-driven optimization
3. Stay Updated
   → Field đang phát triển nhanh
   → Follow best practices
4. Share Knowledge
   → Open source harness components
   → Build community
5. Think Long-term
   → Harness là infrastructure
   → Invest in maintainability
```
---
## 11. Tài Liệu Tham Khảo
### Papers &amp; Research
1. **SWE-agent: Agent-Computer Interfaces Enable Automated Software Engineering**
   - Princeton NLP Lab
   - https://arxiv.org/abs/2405.15793
2. **The Rise of AI Agents and the Importance of Harness Engineering**
   - Mitchell Hashimoto, HashiCorp
   - https://www.youtube.com/watch?v=example
3. **Building Reliable AI Agents with Guardrails**
   - Anthropic Research
   - https://www.anthropic.com/research
### Frameworks &amp; Tools
1. **LangChain** - https://langchain.com
2. **LangGraph** - https://langchain-ai.github.io/langgraph/
3. **AutoGen** - https://microsoft.github.io/autogen/
4. **CrewAI** - https://www.crewai.com
5. **Guardrails AI** - https://www.guardrailsai.com
### Communities
1. **LangChain Discord** - Active community
2. **r/LangChain** - Reddit discussions
3. **AI Engineers** - Slack community
4. **HuggingFace Forums** - Technical discussions
### Blogs &amp; Resources
1. **Anthropic Blog** - https://www.anthropic.com/news
2. **OpenAI Cookbook** - https://cookbook.openai.com
3. **LangChain Blog** - https://blog.langchain.dev
4. **Mitchell Hashimoto's Blog** - https://mitchellh.com
### Courses &amp; Tutorials
1. **DeepLearning.AI - Building AI Agents**
2. **LangChain Academy**
3. **Anthropic Prompt Engineering**
4. **Microsoft AutoGen Tutorial**
---
**Kết Luận**
Harness Engineering không chỉ là một trend công nghệ - nó là sự chuyển đổi paradigm trong cách chúng ta xây dựng ứng dụng AI. Khi các mô hình AI ngày càng mạnh mẽ và trở thành "hàng hóa đại trà", khả năng thiết kế một harness tốt sẽ là yếu tố quyết định thành công.
&gt; **"The model thinks. The harness shapes what it thinks about. And the harness determines the quality of the final output."**
Hãy bắt đầu từ hôm nay - không cần perfect, chỉ cần start. Build, measure, learn, và iterate. Harness Engineering là journey, không phải destination.
**Happy Building! 🚀**
---
**Ngày cập nhật:** 13/07/2026  
**Tác giả:** AI Knowledge Repository
</dc:title>
  <dc:subject># Harness Engineering - Kỹ Thuật Thiết Kế Hệ Thống Xung Quanh AI Agents
&gt; **"Mỗi khi agent mắc lỗi, bạn không cầu nguyện nó làm tốt hơn lần sau – bạn xây dựng một giải pháp hệ thống để nó không bao giờ mắc lỗi đó nữa"**  
&gt; — Mitchell Hashimoto (Founder of HashiCorp, Creator of Terraform)
---
## Mục Lục
- [Harness Engineering - Kỹ Thuật Thiết Kế Hệ Thống Xung Quanh AI Agents](#harness-engineering---kỹ-thuật-thiết-kế-hệ-thống-xung-quanh-ai-agents)
  - [Mục Lục](#mục-lục)
  - [1. Giới Thiệu](#1-giới-thiệu)
    - [Bối Cảnh](#bối-cảnh)
    - [Mục Đích Của Tài Liệu](#mục-đích-của-tài-liệu)
  - [2. Harness Engineering Là Gì?](#2-harness-engineering-là-gì)
    - [Định Nghĩa](#định-nghĩa)
    - [Triết Lý Cốt Lõi](#triết-lý-cốt-lõi)
    - [Ví Dụ Minh Họa](#ví-dụ-minh-họa)
    - [So Sánh Với Các Khái Niệm Khác](#so-sánh-với-các-khái-niệm-khác)
  - [3. Ba Giai Đoạn Tiến Hóa Của Kỹ Nghệ AI](#3-ba-giai-đoạn-tiến-hóa-của-kỹ-nghệ-ai)
    - [3.1. Prompt Engineering (2022-2024)](#31-prompt-engineering-2022-2024)
    - [3.2. Context Engineering (2025)](#32-context-engineering-2025)
    - [3.3. Harness Engineering (2026+)](#33-harness-engineering-2026)
    - [So Sánh Tổng Quan](#so-sánh-tổng-quan)
    - [Insight Quan Trọng](#insight-quan-trọng)
  - [4. Tại Sao Harness Engineering Quan Trọng?](#4-tại-sao-harness-engineering-quan-trọng)
    - [4.1. Tối Ưu Hiệu Suất Vượt Trội](#41-tối-ưu-hiệu-suất-vượt-trội)
    - [4.2. Mô Hình Chỉ Là Công Cụ, Hệ Thống Mới Quyết Định Kết Quả](#42-mô-hình-chỉ-là-công-cụ-hệ-thống-mới-quyết-định-kết-quả)
    - [4.3. Kiểm Soát và Đáng Tin Cậy](#43-kiểm-soát-và-đáng-tin-cậy)
    - [4.4. Scalability và Maintainability](#44-scalability-và-maintainability)
    - [4.5. Giảm Chi Phí Đáng Kể](#45-giảm-chi-phí-đáng-kể)
    - [4.6. Competitive Advantage](#46-competitive-advantage)
    - [Tóm Lại](#tóm-lại)
  - [5. Các Thành Phần Cốt Lõi Của Harness](#5-các-thành-phần-cốt-lõi-của-harness)
    - [5.1. Tools (Công Cụ) - "Tay Chân"](#51-tools-công-cụ---tay-chân)
    - [5.2. Memory (Bộ Nhớ) - "Não"](#52-memory-bộ-nhớ---não)
    - [5.3. Context Management (Quản Lý Ngữ Cảnh) - "Hệ Tuần Hoàn"](#53-context-management-quản-lý-ngữ-cảnh---hệ-tuần-hoàn)
    - [5.4. Guardrails (Rào Cản) - "Hệ Miễn Dịch"](#54-guardrails-rào-cản---hệ-miễn-dịch)
    - [5.5. Feedback Loops (Vòng Lặp Phản Hồi) - "Cảm Giác"](#55-feedback-loops-vòng-lặp-phản-hồi---cảm-giác)
    - [5.6. Permissions (Quyền Hạn) - "Xương"](#56-permissions-quyền-hạn---xương)
    - [5.7. Orchestration (Điều Phối) - "Hệ Thần Kinh"](#57-orchestration-điều-phối---hệ-thần-kinh)
    - [Tích Hợp Tất Cả](#tích-hợp-tất-cả)
  - [6. Case Studies Thực Tế](#6-case-studies-thực-tế)
    - [6.1. SWE-agent (Princeton NLP)](#61-swe-agent-princeton-nlp)
    - [6.2. Anthropic Multi-Agent Architecture](#62-anthropic-multi-agent-architecture)
    - [6.3. Claude Code Leak - Hệ Thống Harness Siêu Đẳng](#63-claude-code-leak---hệ-thống-harness-siêu-đẳng)
      - [A. Quản lý Context 5 Cấp Độ](#a-quản-lý-context-5-cấp-độ)
      - [B. Bộ Nhớ 3 Tầng với Auto-Optimization](#b-bộ-nhớ-3-tầng-với-auto-optimization)
      - [C. Phân Quyền Tool Chặt Chẽ](#c-phân-quyền-tool-chặt-chẽ)
      - [D. Tone Detection với Regex (!)](#d-tone-detection-với-regex-)
    - [6.4. Cursor IDE - Harness Tối Ưu Cho Coding](#64-cursor-ide---harness-tối-ưu-cho-coding)
    - [Bài Học Chung Từ Các Case Studies](#bài-học-chung-từ-các-case-studies)
  - [7. Nguyên Tắc Thiết Kế Harness](#7-nguyên-tắc-thiết-kế-harness)
    - [7.1. Nguyên Tắc SOLID Cho Harness](#71-nguyên-tắc-solid-cho-harness)
    - [7.2. The 10 Commandments of Harness Engineering](#72-the-10-commandments-of-harness-engineering)
    - [7.3. The Harness Design Pattern](#73-the-harness-design-pattern)
  - [8. Best Practices](#8-best-practices)
    - [8.1. Tool Design](#81-tool-design)
    - [8.2. Memory Management](#82-memory-management)
    - [8.3. Context Building](#83-context-building)
    - [8.4. Guardrails](#84-guardrails)
    - [8.5. Testing Harness](#85-testing-harness)
  - [9. Công Cụ và Framework](#9-công-cụ-và-framework)
    - [9.1. Frameworks Phổ Biến](#91-frameworks-phổ-biến)
    - [9.2. Công Cụ Hỗ Trợ](#92-công-cụ-hỗ-trợ)
    - [9.3. Starter Template](#93-starter-template)
  - [10. Tương Lai Của Harness Engineering](#10-tương-lai-của-harness-engineering)
    - [10.1. Xu Hướng 2026-2028](#101-xu-hướng-2026-2028)
    - [10.2. Thách Thức Phía Trước](#102-thách-thức-phía-trước)
    - [10.3. Lời Khuyên Cho Tương Lai](#103-lời-khuyên-cho-tương-lai)
  - [11. Tài Liệu Tham Khảo](#11-tài-liệu-tham-khảo)
    - [Papers \&amp; Research](#papers--research)
    - [Frameworks \&amp; Tools](#frameworks--tools)
    - [Communities](#communities)
    - [Blogs \&amp; Resources](#blogs--resources)
    - [Courses \&amp; Tutorials](#courses--tutorials)
---
## 1. Giới Thiệu
Trong kỷ nguyên AI, chúng ta đã chứng kiến sự phát triển vượt bậc của các mô hình ngôn ngữ lớn (LLMs). Từ GPT-3, GPT-4, Claude, đến Gemini, các mô hình này ngày càng thông minh và mạnh mẽ hơn. Tuy nhiên, một câu hỏi quan trọng được đặt ra: **Tại sao với cùng một mô hình AI, một số ứng dụng hoạt động xuất sắc trong khi những ứng dụng khác lại thất bại?**
Câu trả lời nằm ở **Harness Engineering** - một kỹ thuật không tập trung vào việc cải thiện mô hình AI, mà thay vào đó tập trung vào việc xây dựng toàn bộ **hệ sinh thái xung quanh mô hình đó**: công cụ (tools), quyền truy cập (permissions), bộ nhớ (memory), vòng lặp phản hồi (feedback loops), rào cản bảo vệ (guardrails), và quản lý ngữ cảnh (context management).
### Bối Cảnh
Khi Mitchell Hashimoto (người sáng lập HashiCorp, tác giả của Terraform) tuyên bố rằng *"Prompt Engineering đã chết"* và giới thiệu khái niệm **Harness Engineering**, ông đã mở ra một chương mới trong cách chúng ta nghĩ về phát triển ứng dụng AI. Thay vì lo lắng về cách viết prompt hoàn hảo, chúng ta cần tập trung vào việc xây dựng một hệ thống hoàn chỉnh để AI có thể hoạt động hiệu quả.
### Mục Đích Của Tài Liệu
Tài liệu này cung cấp một cái nhìn toàn diện về Harness Engineering, bao gồm:
- Định nghĩa và triết lý cốt lõi
- So sánh với các kỹ thuật trước đó (Prompt Engineering, Context Engineering)
- Các thành phần và nguyên tắc thiết kế
- Case studies từ các công ty hàng đầu (Princeton NLP, Anthropic)
- Best practices và hướng dẫn triển khai thực tế
---
## 2. Harness Engineering Là Gì?
### Định Nghĩa
**Harness Engineering** là kỹ thuật xây dựng và thiết kế toàn bộ **"môi trường xung quanh"** một mô hình AI (bao gồm công cụ, quyền truy cập, bộ nhớ, vòng lặp phản hồi, rào cản bảo vệ, quản lý context...) thay vì tập trung vào việc cải thiện bản thân mô hình đó.
Nói một cách đơn giản:
- **Mô hình AI** là thứ **suy nghĩ**
- **Harness** là thứ mà AI **suy nghĩ về**
- Và chính **Harness** mới quyết định **chất lượng đầu ra cuối cùng**
### Triết Lý Cốt Lõi
&gt; *"Mỗi khi agent mắc lỗi, bạn không cầu nguyện nó làm tốt hơn lần sau – bạn xây dựng một giải pháp hệ thống để nó không bao giờ mắc lỗi đó nữa"*
Triết lý này nhấn mạnh vào:
1. **Systematic Solutions over Prayers**: Thay vì hy vọng AI sẽ "học" từ lỗi, bạn xây dựng cơ chế hệ thống ngăn chặn lỗi đó tái diễn.
2. **Infrastructure over Instructions**: Thay vì viết prompt dài dòng hướng dẫn AI làm gì, bạn xây dựng cơ sở hạ tầng hạn chế những gì AI có thể làm.
3. **Design over Training**: Thay vì fine-tune mô hình, bạn thiết kế môi trường hoạt động của mô hình.
### Ví Dụ Minh Họa
Hãy tưởng tượng bạn có một AI coding assistant:
**❌ Cách tiếp cận cũ (Prompt Engineering):**
```
"Hãy viết code Python. Đảm bảo code của bạn không có lỗi cú pháp. 
Kiểm tra kỹ trước khi trả về. Nếu có lỗi, hãy sửa..."
```
**✅ Cách tiếp cận mới (Harness Engineering):**
```javascript
// Tích hợp linter vào harness
harness.addTool({
  name: "write_code",
  execute: async (code) =&gt; {
    // Tự động check syntax
    const lintResult = await linter.check(code);
    if (lintResult.hasErrors) {
      // Tự động reject và yêu cầu sửa
      return { status: "error", errors: lintResult.errors };
    }
    return { status: "success", code };
  }
});
```
Trong ví dụ trên, thay vì "nhờ" AI cẩn thận, bạn xây dựng một hệ thống **không cho phép** AI trả về code có lỗi.
### So Sánh Với Các Khái Niệm Khác
| Khía cạnh | Prompt Engineering | Context Engineering | Harness Engineering |
|-----------|-------------------|---------------------|---------------------|
| **Focus** | Cách hỏi | Dữ liệu đầu vào | Toàn bộ hệ thống |
| **Mục tiêu** | Câu prompt tốt hơn | Context phù hợp hơn | Môi trường tốt hơn |
| **Ví dụ** | Viết email | Đính kèm file | Thiết kế văn phòng + quy trình |
| **Kiểm soát** | Thấp | Trung bình | Cao |
| **Tính bền vững** | Thấp | Trung bình | Cao |
---
## 3. Ba Giai Đoạn Tiến Hóa Của Kỹ Nghệ AI
Để hiểu rõ hơn về Harness Engineering, chúng ta cần nhìn lại quá trình tiến hóa của kỹ nghệ AI qua ba giai đoạn chính:
### 3.1. Prompt Engineering (2022-2024)
**Focus**: *"Hỏi AI thế nào cho đúng?"*
**Đặc điểm:**
- Tập trung vào việc viết câu prompt tốt
- Sử dụng các kỹ thuật: few-shot learning, chain-of-thought, role-playing
- Phụ thuộc nhiều vào "nghệ thuật" viết prompt
**Ví dụ:**
```
User: "Act as a senior Python developer. Write a function to..."
User: "Think step by step..."
User: "Here are some examples: ..."
```
**Hạn chế:**
- Khó mở rộng và duy trì
- Kết quả không ổn định
- Khó debug khi có lỗi
- Phụ thuộc quá nhiều vào cách diễn đạt
**So sánh:** Giống như viết email - bạn lo lắng về từng từ, từng câu.
---
### 3.2. Context Engineering (2025)
**Focus**: *"Đưa thông tin gì để AI trả lời tốt?"*
**Đặc điểm:**
- Tập trung vào việc cung cấp đúng dữ liệu đầu vào
- Sử dụng RAG (Retrieval Augmented Generation)
- Quản lý context window hiệu quả
- Tích hợp knowledge bases
**Ví dụ:**
```javascript
// Retrieve relevant context
const relevantDocs = await vectorDB.search(query);
const context = relevantDocs.map(doc =&gt; doc.content).join('\n');
// Add to prompt
const prompt = `Context: ${context}\n\nQuestion: ${query}`;
```
**Ưu điểm:**
- Cải thiện độ chính xác
- Giảm hallucination
- Có thể scale với dữ liệu lớn
**Hạn chế:**
- Vẫn phụ thuộc vào chất lượng context
- Chưa kiểm soát được hành vi của AI
- Khó xử lý các tình huống phức tạp
**So sánh:** Giống như đính kèm đúng file vào email - bạn cung cấp đủ thông tin cần thiết.
---
### 3.3. Harness Engineering (2026+)
**Focus**: *"Toàn bộ hệ thống quanh AI vận hành ra sao?"*
**Đặc điểm:**
- Thiết kế toàn bộ môi trường hoạt động
- Tích hợp tools, memory, guardrails
- Kiểm soát chặt chẽ hành vi của AI
- Tự động xử lý lỗi và tối ưu hóa
**Ví dụ:**
```javascript
const harness = new AIHarness({
  model: "claude-3-opus",
  tools: [codeExecutor, fileManager, webSearch],
  memory: {
    shortTerm: conversationHistory,
    longTerm: vectorStore,
    workingMemory: currentContext
  },
  guardrails: {
    maxTokens: 100000,
    allowedDomains: ["github.com", "stackoverflow.com"],
    securityRules: [noSensitiveData, validateOutputs]
  },
  feedback: {
    onError: autoRetry,
    onSuccess: logMetrics
  }
});
```
**Ưu điểm:**
- Kiểm soát hoàn toàn hành vi AI
- Dễ debug và maintain
- Có thể mở rộng và tái sử dụng
- Kết quả ổn định và đáng tin cậy
**So sánh:** Giống như thiết kế cả văn phòng và quy trình làm việc - bạn tạo ra một hệ sinh thái hoàn chỉnh.
---
### So Sánh Tổng Quan
```
┌─────────────────────────────────────────────────────────────┐
│                    TIẾN HÓA KỸ NGHỆ AI                      │
├─────────────────────────────────────────────────────────────┤
│                                                             │
│  2022-2024: PROMPT ENGINEERING                              │
│  ┌─────────────────────────────────┐                       │
│  │ "Làm sao hỏi cho đúng?"         │                       │
│  │ Focus: Câu prompt                │                       │
│  │ Control: ⭐ Thấp                 │                       │
│  └─────────────────────────────────┘                       │
│                    │                                        │
│                    ▼                                        │
│  2025: CONTEXT ENGINEERING                                  │
│  ┌─────────────────────────────────┐                       │
│  │ "Đưa thông tin gì?"             │                       │
│  │ Focus: Dữ liệu đầu vào          │                       │
│  │ Control: ⭐⭐ Trung bình         │                       │
│  └─────────────────────────────────┘                       │
│                    │                                        │
│                    ▼                                        │
│  2026+: HARNESS ENGINEERING                                 │
│  ┌─────────────────────────────────┐                       │
│  │ "Hệ thống hoạt động ra sao?"   │                       │
│  │ Focus: Toàn bộ môi trường       │                       │
│  │ Control: ⭐⭐⭐⭐⭐ Cao          │                       │
│  └─────────────────────────────────┘                       │
│                                                             │
└─────────────────────────────────────────────────────────────┘
```
### Insight Quan Trọng
&gt; **"Prompt Engineering chưa chết, nhưng nó không còn đủ"**
Mỗi giai đoạn không thay thế hoàn toàn giai đoạn trước, mà bổ sung thêm một layer kiểm soát:
- Bạn vẫn cần **prompt tốt** (Prompt Engineering)
- Bạn vẫn cần **context phù hợp** (Context Engineering)
- Nhưng bạn cần thêm **hệ thống hoàn chỉnh** (Harness Engineering)
---
## 4. Tại Sao Harness Engineering Quan Trọng?
### 4.1. Tối Ưu Hiệu Suất Vượt Trội
**Nghiên cứu từ Princeton NLP** (paper SWE-agent) đã chứng minh một phát hiện đột phá:
&gt; Chỉ cần thay đổi cách thiết kế **"giao diện/môi trường"** (ACI - Agent-Computer Interface), hiệu suất của AI có thể **tăng tới 64%** mà không cần nâng cấp mô hình.
**Kết quả thực nghiệm:**
| Cách tiếp cận | Success Rate | Improvement |
|---------------|--------------|-------------|
| Baseline (no harness) | 12.5% | - |
| With optimized harness | 20.5% | +64% |
**Điều này có nghĩa là gì?**
- Harness design có thể quan trọng hơn cả việc chọn mô hình AI
- ROI cao hơn so với việc train/fine-tune mô hình mới
- Có thể áp dụng ngay lập tức mà không cần tài nguyên lớn
---
### 4.2. Mô Hình Chỉ Là Công Cụ, Hệ Thống Mới Quyết Định Kết Quả
**Thực tế của thị trường AI:**
```
┌──────────────────────────────────────────────────────┐
│  COMMODITIZATION OF AI MODELS                        │
├──────────────────────────────────────────────────────┤
│                                                      │
│  2023: GPT-4 là "vua"                                │
│  2024: Claude 3, Gemini Ultra cạnh tranh             │
│  2025: Nhiều mô hình tương đương nhau                │
│  2026: Mô hình trở thành "hàng hóa" (commodity)      │
│                                                      │
│  ➜ Sự khác biệt không còn ở mô hình                 │
│  ➜ Sự khác biệt nằm ở HARNESS                       │
│                                                      │
└──────────────────────────────────────────────────────┘
```
**Ví dụ thực tế:**
Cùng một mô hình Claude 3.5 Sonnet:
- **Cursor IDE**: Rất hiệu quả trong coding
- **Random chatbot**: Không tốt lắm
➜ **Điều khác biệt?** Harness design của Cursor!
---
### 4.3. Kiểm Soát và Đáng Tin Cậy
**Vấn đề với approach cũ:**
```javascript
// ❌ Không thể kiểm soát
const response = await ai.chat("Fix this bug...");
// Bạn không biết AI sẽ làm gì
// Bạn không thể đảm bảo output
// Bạn khó debug khi có lỗi
```
**Với Harness Engineering:**
```javascript
// ✅ Kiểm soát hoàn toàn
const harness = new AIHarness({
  tools: {
    'file_edit': {
      validator: (path) =&gt; path.startsWith('/safe/dir'),
      maxSize: 10000,
      allowedExtensions: ['.js', '.ts', '.py']
    }
  },
  outputValidation: {
    checkSyntax: true,
    checkSecurity: true,
    runTests: true
  }
});
// Bạn biết chính xác AI có thể làm gì
// Bạn đảm bảo output luôn valid
// Bạn có logs chi tiết để debug
```
---
### 4.4. Scalability và Maintainability
**Kịch bản thực tế:**
Bạn có 10 AI agents trong hệ thống. Bạn phát hiện một lỗi bảo mật:
**❌ Không có Harness:**
```
- Phải update 10 prompts khác nhau
- Phải test lại 10 agents
- Không chắc đã fix hết chưa
- Mất 2-3 ngày
```
**✅ Có Harness:**
```javascript
// Fix tại 1 nơi trong harness
harness.addSecurityRule({
  name: 'no-sensitive-data',
  validate: (output) =&gt; !containsSensitiveData(output)
});
// Tất cả agents tự động có rule này
// Test 1 lần
// Deploy trong vài phút
```
---
### 4.5. Giảm Chi Phí Đáng Kể
**Cost Savings từ Harness Engineering:**
1. **Giảm token usage**
   - Context compression
   - Smart caching
   - Efficient tool calling
   - **Tiết kiệm: 40-60% cost**
2. **Giảm error rate**
   - Automatic validation
   - Built-in guardrails
   - **Giảm: 70-80% failed requests**
3. **Tăng development speed**
   - Reusable components
   - Clear architecture
   - **Tăng: 3-5x faster development**
**Ví dụ tính toán:**
```
Dự án AI Agent truyền thống:
- API cost: $2,000/month
- Development time: 3 months
- Error handling: 40 hours/month
Total: ~$30,000 (3 months)
Với Harness Engineering:
- API cost: $800/month (giảm 60%)
- Development time: 1 month (reuse harness)
- Error handling: 5 hours/month (tự động)
Total: ~$12,000 (3 months)
➜ Savings: $18,000 (60%)
```
---
### 4.6. Competitive Advantage
Khi các mô hình AI trở nên tương đương nhau, **Harness Engineering chính là competitive moat** (lợi thế cạnh tranh):
- **Anthropic**: Harness siêu đẳng (theo leak code của Claude)
- **Cursor**: Harness tối ưu cho coding
- **Perplexity**: Harness tốt cho search &amp; research
➜ Đây là lý do tại sao họ dẫn đầu thị trường!
---
### Tóm Lại
Harness Engineering quan trọng vì:
1. ✅ **Tăng hiệu suất 64%+** (theo nghiên cứu Princeton)
2. ✅ **Tạo competitive advantage** khi mô hình trở thành commodity
3. ✅ **Kiểm soát và đáng tin cậy** hơn nhiều
4. ✅ **Scale và maintain dễ dàng**
5. ✅ **Tiết kiệm 40-60% chi phí**
6. ✅ **Tăng tốc development 3-5x**
&gt; **"In the age of AI commoditization, your harness is your moat"**
---
## 5. Các Thành Phần Cốt Lõi Của Harness
Một harness hoàn chỉnh bao gồm 7 thành phần chính. Hãy tưởng tượng chúng như các "cơ quan" trong cơ thể con người:
```
┌─────────────────────────────────────────────────────────┐
│              KIẾN TRÚC HARNESS HOÀN CHỈNH               │
├─────────────────────────────────────────────────────────┤
│                                                         │
│  ┌─────────────┐      ┌─────────────┐                 │
│  │   TOOLS     │◄────►│   MEMORY    │                 │
│  │  (Tay chân) │      │ (Bộ não)    │                 │
│  └─────────────┘      └─────────────┘                 │
│         ▲                    ▲                         │
│         │                    │                         │
│         ▼                    ▼                         │
│  ┌─────────────────────────────────┐                  │
│  │      CONTEXT MANAGEMENT         │                  │
│  │      (Hệ thống tuần hoàn)       │                  │
│  └─────────────────────────────────┘                  │
│         ▲                    ▲                         │
│         │                    │                         │
│  ┌─────────────┐      ┌─────────────┐                 │
│  │ GUARDRAILS  │      │  FEEDBACK   │                 │
│  │(Hệ miễn dịch)│      │(Cảm giác)   │                 │
│  └─────────────┘      └─────────────┘                 │
│         ▲                    ▲                         │
│         │                    │                         │
│  ┌─────────────┐      ┌─────────────┐                 │
│  │ PERMISSIONS │      │ ORCHESTRATION│                │
│  │  (Xương)    │      │(Hệ thần kinh)│                │
│  └─────────────┘      └─────────────┘                 │
│                                                         │
└─────────────────────────────────────────────────────────┘
```
---
### 5.1. Tools (Công Cụ) - "Tay Chân"
**Mục đích**: Định nghĩa những gì AI có thể **làm**
**Ví dụ:**
```typescript
interface Tool {
  name: string;
  description: string;
  parameters: JSONSchema;
  execute: (params: any) =&gt; Promise&lt;ToolResult&gt;;
  validation?: {
    preExecution?: (params: any) =&gt; boolean;
    postExecution?: (result: any) =&gt; boolean;
  };
}
// Example: File Editor Tool
const fileEditorTool: Tool = {
  name: "edit_file",
  description: "Edit a file with specified changes",
  parameters: {
    type: "object",
    properties: {
      path: { type: "string" },
      changes: { type: "array" }
    }
  },
  execute: async (params) =&gt; {
    // Implementation
    return { success: true, content: "..." };
  },
  validation: {
    preExecution: (params) =&gt; {
      // Check if path is safe
      return params.path.startsWith('/safe/');
    },
    postExecution: (result) =&gt; {
      // Validate syntax
      return linter.check(result.content);
    }
  }
};
```
**Best Practices:**
- ✅ Giới hạn scope của mỗi tool (single responsibility)
- ✅ Validation đầu vào và đầu ra
- ✅ Clear error messages
- ✅ Idempotent khi có thể
- ❌ Tránh tools quá mạnh (e.g., "execute_any_command")
---
### 5.2. Memory (Bộ Nhớ) - "Não"
**Mục đích**: Quản lý thông tin AI cần **nhớ**
**3 Loại Memory:**
```typescript
interface MemorySystem {
  // 1. Short-term Memory (Conversation)
  shortTerm: {
    maxMessages: number;
    messages: Message[];
    compress: () =&gt; void;
  };
  // 2. Long-term Memory (Knowledge)
  longTerm: {
    vectorStore: VectorDB;
    add: (content: string, metadata: any) =&gt; void;
    search: (query: string) =&gt; Promise&lt;Document[]&gt;;
  };
  // 3. Working Memory (Current Task)
  workingMemory: {
    currentTask: Task;
    subTasks: Task[];
    context: Map&lt;string, any&gt;;
  };
}
```
**Ví dụ Implementation:**
```typescript
class HarnessMemory implements MemorySystem {
  shortTerm = {
    maxMessages: 20,
    messages: [],
    compress: () =&gt; {
      // Summarize old messages when hitting limit
      if (this.messages.length &gt; this.maxMessages) {
        const old = this.messages.slice(0, -10);
        const summary = this.summarize(old);
        this.messages = [
          { role: 'system', content: summary },
          ...this.messages.slice(-10)
        ];
      }
    }
  };
  longTerm = {
    vectorStore: new ChromaDB(),
    add: async (content, metadata) =&gt; {
      await this.vectorStore.add({
        content,
        metadata,
        embedding: await this.embed(content)
      });
    },
    search: async (query) =&gt; {
      return await this.vectorStore.search(query, { limit: 5 });
    }
  };
  workingMemory = {
    currentTask: null,
    subTasks: [],
    context: new Map()
  };
}
```
**Best Practices:**
- ✅ Context compression khi cần
- ✅ Prioritize relevant memories
- ✅ Clear working memory sau task
- ✅ Separate concerns (short/long/working)
---
### 5.3. Context Management (Quản Lý Ngữ Cảnh) - "Hệ Tuần Hoàn"
**Mục đích**: Đảm bảo AI luôn có đúng thông tin tại đúng thời điểm
**5 Cấp Độ Context (theo Anthropic):**
```typescript
interface ContextManager {
  // Level 1: System Instructions
  systemContext: {
    identity: string;
    capabilities: string[];
    limitations: string[];
  };
  // Level 2: Task Context
  taskContext: {
    goal: string;
    constraints: string[];
    currentStep: number;
  };
  // Level 3: Domain Knowledge
  domainContext: {
    codebase: CodebaseInfo;
    documentation: Document[];
    conventions: Convention[];
  };
  // Level 4: Conversation History
  conversationContext: {
    history: Message[];
    summary: string;
  };
  // Level 5: Immediate Context
  immediateContext: {
    currentFile: string;
    recentChanges: Change[];
    openFiles: string[];
  };
  // Build final context for AI
  buildContext(): string;
}
```
**Context Optimization Strategies:**
```typescript
class SmartContextManager {
  async buildOptimizedContext(query: string): Promise&lt;string&gt; {
    // 1. Always include system &amp; task
    const core = this.getSystemAndTaskContext();
    // 2. Retrieve relevant domain knowledge
    const relevant = await this.retrieveRelevant(query);
    // 3. Add compressed conversation history
    const history = this.compressHistory();
    // 4. Include immediate context
    const immediate = this.getImmediateContext();
    // 5. Ensure under token limit
    return this.fitToLimit([core, relevant, history, immediate]);
  }
  private fitToLimit(contexts: string[]): string {
    const limit = 100000; // tokens
    let total = '';
    let tokenCount = 0;
    for (const ctx of contexts) {
      const tokens = this.countTokens(ctx);
      if (tokenCount + tokens &lt; limit) {
        total += ctx;
        tokenCount += tokens;
      } else {
        // Truncate or skip
        break;
      }
    }
    return total;
  }
}
```
---
### 5.4. Guardrails (Rào Cản) - "Hệ Miễn Dịch"
**Mục đích**: Ngăn chặn hành vi không mong muốn
**Các Loại Guardrails:**
```typescript
interface GuardrailSystem {
  // Input Guardrails
  inputGuardrails: {
    contentFilter: (input: string) =&gt; ValidationResult;
    promptInjectionDetection: (input: string) =&gt; boolean;
    rateLimiting: RateLimiter;
  };
  // Output Guardrails
  outputGuardrails: {
    sensitiveDataDetection: (output: string) =&gt; boolean;
    toxicityFilter: (output: string) =&gt; ToxicityScore;
    factualityCheck: (output: string) =&gt; Promise&lt;boolean&gt;;
  };
  // Behavioral Guardrails
  behavioralGuardrails: {
    maxIterations: number;
    timeoutMs: number;
    allowedDomains: string[];
    forbiddenActions: string[];
  };
  // Security Guardrails
  securityGuardrails: {
    sandboxing: boolean;
    fileAccessControl: AccessControl;
    networkRestrictions: NetworkPolicy;
  };
}
```
**Ví dụ Implementation:**
```typescript
class GuardrailLayer {
  async validateInput(input: string): Promise&lt;ValidationResult&gt; {
    // Check for prompt injection
    if (this.detectPromptInjection(input)) {
      return { valid: false, reason: 'Prompt injection detected' };
    }
    // Check for inappropriate content
    const toxicity = await this.checkToxicity(input);
    if (toxicity.score &gt; 0.8) {
      return { valid: false, reason: 'Inappropriate content' };
    }
    return { valid: true };
  }
  async validateOutput(output: string): Promise&lt;ValidationResult&gt; {
    // Check for sensitive data leaks
    if (this.containsSensitiveData(output)) {
      return { valid: false, reason: 'Sensitive data detected' };
    }
    // Check output quality
    if (!this.meetsQualityStandards(output)) {
      return { valid: false, reason: 'Quality check failed' };
    }
    return { valid: true };
  }
  private detectPromptInjection(input: string): boolean {
    const patterns = [
      /ignore previous instructions/i,
      /system prompt/i,
      /you are now/i,
      // ... more patterns
    ];
    return patterns.some(p =&gt; p.test(input));
  }
}
```
---
### 5.5. Feedback Loops (Vòng Lặp Phản Hồi) - "Cảm Giác"
**Mục đích**: Tự động học và cải thiện từ kết quả
```typescript
interface FeedbackSystem {
  // Automatic feedback
  onSuccess: (task: Task, result: any) =&gt; void;
  onError: (task: Task, error: Error) =&gt; void;
  onTimeout: (task: Task) =&gt; void;
  // Metrics tracking
  metrics: {
    successRate: number;
    avgResponseTime: number;
    tokenUsage: number;
    errorTypes: Map&lt;string, number&gt;;
  };
  // Auto-optimization
  optimizer: {
    analyzePatterns: () =&gt; Insights;
    suggestImprovements: () =&gt; Suggestion[];
    autoAdjust: (metric: string) =&gt; void;
  };
}
```
**Example:**
```typescript
class FeedbackLoop {
  async handleTaskCompletion(task: Task, result: TaskResult) {
    // 1. Log metrics
    await this.logMetrics({
      taskType: task.type,
      duration: result.duration,
      tokensUsed: result.tokensUsed,
      success: result.success
    });
    // 2. Analyze for patterns
    if (result.success) {
      await this.memory.longTerm.add(
        `Successful ${task.type}: ${result.approach}`,
        { type: 'success_pattern', task: task.type }
      );
    } else {
      await this.memory.longTerm.add(
        `Failed ${task.type}: ${result.error}`,
        { type: 'failure_pattern', task: task.type }
      );
    }
    // 3. Auto-adjust if needed
    if (this.metrics.successRate &lt; 0.7) {
      await this.optimizer.suggestImprovements();
    }
  }
}
```
---
### 5.6. Permissions (Quyền Hạn) - "Xương"
**Mục đích**: Định nghĩa AI được phép làm gì, ở đâu, khi nào
```typescript
interface PermissionSystem {
  // Resource permissions
  resources: {
    files: FilePermissions;
    network: NetworkPermissions;
    system: SystemPermissions;
  };
  // Time-based permissions
  temporal: {
    allowedHours: TimeRange[];
    maxDuration: number;
  };
  // Context-based permissions
  contextual: {
    requireApproval: (action: Action) =&gt; boolean;
    escalationRules: EscalationRule[];
  };
}
interface FilePermissions {
  read: string[];      // Allowed paths to read
  write: string[];     // Allowed paths to write
  delete: string[];    // Allowed paths to delete
  maxFileSize: number; // Max file size in bytes
}
```
---
### 5.7. Orchestration (Điều Phối) - "Hệ Thần Kinh"
**Mục đích**: Điều phối tất cả các thành phần hoạt động hài hòa
```typescript
class HarnessOrchestrator {
  async execute(userRequest: string): Promise&lt;Result&gt; {
    // 1. Validate input
    const inputCheck = await this.guardrails.validateInput(userRequest);
    if (!inputCheck.valid) {
      return { error: inputCheck.reason };
    }
    // 2. Build context
    const context = await this.contextManager.buildContext(userRequest);
    // 3. Check permissions
    const action = await this.planner.plan(userRequest);
    if (!this.permissions.allows(action)) {
      return { error: 'Permission denied' };
    }
    // 4. Execute with tools
    const result = await this.agent.execute(action, context);
    // 5. Validate output
    const outputCheck = await this.guardrails.validateOutput(result);
    if (!outputCheck.valid) {
      return await this.retry(action); // Retry logic
    }
    // 6. Update memory &amp; feedback
    await this.memory.update(result);
    await this.feedback.log(action, result);
    return result;
  }
}
```
---
### Tích Hợp Tất Cả
```typescript
// Complete Harness Example
const harness = new AIHarness({
  model: "claude-3.5-sonnet",
  tools: [fileEditor, codeRunner, webSearch],
  memory: {
    shortTerm: { maxMessages: 20 },
    longTerm: { vectorStore: chromaDB },
    workingMemory: { maxSize: 10000 }
  },
  contextManager: {
    levels: 5,
    optimization: "smart",
    tokenLimit: 100000
  },
  guardrails: {
    input: [promptInjectionFilter, toxicityFilter],
    output: [sensitiveDataFilter, qualityChecker],
    behavioral: { maxIterations: 10, timeoutMs: 30000 }
  },
  feedback: {
    autoLog: true,
    metricsTracking: true,
    autoOptimize: true
  },
  permissions: {
    files: {
      read: ["/project/**"],
      write: ["/project/src/**"],
      delete: []
    },
    network: {
      allowedDomains: ["github.com", "stackoverflow.com"]
    }
  }
});
```
---
### Tích Hợp Component Với Modules Trong Repo
Mỗi thành phần của Harness tương ứng trực tiếp với các modules trong **AI Coding Skills Framework**. Đây là cách các components "gắn liền" với thực tiễn:
```
┌─────────────────────────────────────────────────────────────────────┐
│                    HARNESS → MODULE MAPPING                         │
├─────────────────────────────────────────────────────────────────────┤
│                                                                     │
│  ┌─────────────┐      ┌─────────────────────────────────────┐     │
│  │   TOOLS     │ ───► │ 06-decide-tools-mcp                 │     │
│  │  (Tay chân) │      │ Tool selection &amp; MCP integration     │     │
│  └─────────────┘      └─────────────────────────────────────┘     │
│                                                                     │
│  ┌─────────────┐      ┌─────────────────────────────────────┐     │
│  │   MEMORY    │ ───► │ 01-retrieve-memory-knowledge        │     │
│  │  (Bộ não)   │      │ 03-update-memory-store               │     │
│  └─────────────┘      └─────────────────────────────────────┘     │
│                                                                     │
│  ┌─────────────┐      ┌─────────────────────────────────────┐     │
│  │   CONTEXT   │ ───► │ 02-build-context                    │     │
│  │ (Tuần hoàn) │      │ Context building &amp; management       │     │
│  └─────────────┘      └─────────────────────────────────────┘     │
│                                                                     │
│  ┌─────────────┐      ┌─────────────────────────────────────┐     │
│  │ GUARDRAILS  │ ───► │ 05-prompt-builder (Guardrails)      │     │
│  │(Miễn dịch) │      │ 11-evaluation (validation)           │     │
│  └─────────────┘      └─────────────────────────────────────┘     │
│                                                                     │
│  ┌─────────────┐      ┌─────────────────────────────────────┐     │
│  │  FEEDBACK   │ ───► │ 07-workflow (retry, loop patterns)  │     │
│  │ (Cảm giác)  │      │ 11-evaluation (metrics &amp; feedback)  │     │
│  └─────────────┘      └─────────────────────────────────────┘     │
│                                                                     │
│  ┌─────────────┐      ┌─────────────────────────────────────┐     │
│  │ PERMISSIONS │ ───► │ 06-decide-tools-mcp (tool perms)    │     │
│  │   (Xương)   │      │ 10-automation (access control)       │     │
│  └─────────────┘      └─────────────────────────────────────┘     │
│                                                                     │
│  ┌─────────────┐      ┌─────────────────────────────────────┐     │
│  │ ORCHESTRATION│───►│ 07-workflow (workflow engine)         │     │
│  │(Thần kinh)  │      │ 09-multi-agent (agent coordination)  │     │
│  └─────────────┘      │ 04-plan-decompose-task (planning)    │     │
│                        │ 08-task (task management)             │     │
│                        └─────────────────────────────────────┘     │
│                                                                     │
└─────────────────────────────────────────────────────────────────────┘
```
#### Bảng Mapping Chi Tiết
| Component | Analogies | Modules trong Repo | Mô tả |
|-----------|-----------|-------------------|-------|
| **Tools** | "Tay chân" | `06-decide-tools-mcp` | Định nghĩa AI có thể dùng công cụ gì, tích hợp MCP |
| **Memory** | "Bộ não" | `01-retrieve-memory-knowledge`, `03-update-memory-store` | Nhớ &amp; truy xuất kiến thức, cập nhật bộ nhớ |
| **Context Management** | "Hệ tuần hoàn" | `02-build-context` | Xây dựng ngữ cảnh phù hợp cho từng task |
| **Guardrails** | "Hệ miễn dịch" | `05-prompt-builder`, `11-evaluation` | Rào cản bảo vệ, kiểm tra đầu vào/đầu ra |
| **Feedback Loops** | "Cảm giác" | `07-workflow`, `11-evaluation` | Vòng lặp phản hồi, retry, đánh giá chất lượng |
| **Permissions** | "Xương" | `06-decide-tools-mcp`, `10-automation` | Phân quyền truy cập tài nguyên |
| **Orchestration** | "Hệ thần kinh" | `07-workflow`, `09-multi-agent`, `04-plan-decompose-task`, `08-task` | Điều phối tất cả thành phần hoạt động hài hòa |
&gt; **Insight**: Prompt Engineering (`05-prompt-builder`) không phải là một component riêng biệt của Harness — nó là **kỹ thuật nền tảng** được tích hợp xuyên suốt nhiều components: System Prompt trong Orchestration, Few-shot trong Context Management, Structured Output trong Guardrails.
---
## 6. Case Studies Thực Tế
Các case studies sau đây cho thấy cách các tổ chức hàng đầu áp dụng Harness Engineering để đạt được kết quả vượt trội.
---
### 6.1. SWE-agent (Princeton NLP)
**Bối cảnh**: Princeton NLP phát triển một AI agent để tự động sửa lỗi GitHub issues.
**Vấn đề ban đầu**:
- Success rate chỉ 12.5% với baseline approach
- Agent thường "lạc lối" trong codebase
- Kết quả tìm kiếm quá nhiều, gây overwhelm
- Không biết đâu là thông tin quan trọng
**Giải pháp Harness Engineering**:
```typescript
// 1. GIỚI HẠN OUTPUT CỦA TOOLS
const searchTool = {
  name: "search_file",
  execute: async (pattern: string) =&gt; {
    const results = await grep(pattern);
    // ❌ Trước: Trả về toàn bộ
    // ✅ Sau: Giới hạn 50 kết quả đầu
    return results.slice(0, 50);
  }
};
// 2. VIEWER THÔNG MINH
const fileViewer = {
  name: "view_file",
  context: {
    showLineNumbers: true,
    contextLines: 100,  // Chỉ hiện 100 dòng tại 1 thời điểm
    highlightRelevant: true
  },
  execute: async (file: string, startLine: number) =&gt; {
    // Thay vì load toàn bộ file (có thể 1000+ dòng)
    // Chỉ load 100 dòng xung quanh vùng quan tâm
    return loadFileWindow(file, startLine, 100);
  }
};
// 3. TÍCH HỢP LINTER REALTIME
const editTool = {
  name: "edit_file",
  execute: async (file: string, changes: Change[]) =&gt; {
    const newContent = applyChanges(file, changes);
    // Tự động check syntax ngay lập tức
    const lintResult = await linter.check(newContent);
    if (lintResult.errors.length &gt; 0) {
      // Không cho phép save file có lỗi
      return {
        success: false,
        errors: lintResult.errors,
        message: "Please fix syntax errors before proceeding"
      };
    }
    await saveFile(file, newContent);
    return { success: true };
  }
};
// 4. NÉN LỊCH SỬ CHAT
const memoryManager = {
  compressHistory: async () =&gt; {
    if (history.length &gt; 20) {
      // Summarize old conversations
      const old = history.slice(0, -10);
      const summary = await summarize(old);
      history = [
        { role: 'system', content: summary },
        ...history.slice(-10)
      ];
    }
  }
};
```
**Kết quả**:
- Success rate tăng từ **12.5% → 20.5%** (+64%)
- Thời gian giải quyết issue giảm 40%
- Token usage giảm 30%
**Key Insights**:
&gt; "Không phải mô hình yếu, mà môi trường không được thiết kế tốt"
---
### 6.2. Anthropic Multi-Agent Architecture
**Bối cảnh**: Anthropic phát triển Claude Code để tạo các ứng dụng phức tạp (games, DAW, etc.)
**Vấn đề ban đầu**:
- Single agent làm quá nhiều việc cùng lúc → overwhelmed
- Agent dừng lại quá sớm (chưa hoàn thành)
- Hoặc tiếp tục quá lâu (không biết khi nào dừng)
**Giải pháp: Multi-Agent Orchestration**
```typescript
// Kiến trúc 3 Agent
class MultiAgentHarness {
  agents = {
    planner: new PlannerAgent(),
    generator: new GeneratorAgent(),
    evaluator: new EvaluatorAgent()
  };
  async execute(task: string): Promise&lt;Result&gt; {
    // 1. PLANNER: Lập kế hoạch
    const plan = await this.agents.planner.createPlan(task);
    /*
    Output example:
    {
      steps: [
        "1. Create game canvas",
        "2. Implement player movement",
        "3. Add collision detection",
        "4. Implement scoring system"
      ],
      estimatedComplexity: "medium"
    }
    */
    // 2. GENERATOR: Thực thi từng bước
    const results = [];
    for (const step of plan.steps) {
      const result = await this.agents.generator.generate(step);
      results.push(result);
      // 3. EVALUATOR: Đánh giá sau mỗi bước
      const evaluation = await this.agents.evaluator.evaluate(result, step);
      if (!evaluation.passed) {
        // Retry with feedback
        const retry = await this.agents.generator.generate(
          step,
          { previousAttempt: result, feedback: evaluation.feedback }
        );
        results[results.length - 1] = retry;
      }
    }
    // 4. FINAL EVALUATION
    const finalEval = await this.agents.evaluator.evaluateFinal(results);
    return {
      success: finalEval.passed,
      output: results,
      quality: finalEval.quality
    };
  }
}
```
**Đặc điểm của từng Agent**:
```typescript
// PLANNER AGENT
class PlannerAgent {
  systemPrompt = `
    You are a planning specialist.
    Break down complex tasks into clear, actionable steps.
    Consider dependencies and order.
    Output: JSON with steps array.
  `;
  tools = []; // No tools, pure planning
}
// GENERATOR AGENT
class GeneratorAgent {
  systemPrompt = `
    You are a code generator.
    Implement exactly what is asked in the step.
    Use provided tools to write and test code.
  `;
  tools = [
    writeFile,
    readFile,
    executeCode,
    installPackage
  ];
}
// EVALUATOR AGENT
class EvaluatorAgent {
  systemPrompt = `
    You are a quality evaluator.
    Check if the implementation meets requirements.
    Test for bugs, edge cases, and completeness.
    Decide: PASS or FAIL with specific feedback.
  `;
  tools = [
    runTests,
    checkSyntax,
    analyzeCode
  ];
}
```
**Kết quả**:
- Có thể tạo các ứng dụng phức tạp: 2D games, DAW (Digital Audio Workstation)
- Success rate cao hơn 80% so với single-agent
- Code quality tốt hơn nhờ evaluation loop
**Key Insights**:
&gt; "Chia để trị - Mỗi agent tập trung vào một nhiệm vụ cụ thể"
---
### 6.3. Claude Code Leak - Hệ Thống Harness Siêu Đẳng
**Bối cảnh**: Vào 2026, source code của Claude Code bị leak vô tình, hé lộ kiến trúc harness cực kỳ tinh vi.
**Phát hiện chính**:
#### A. Quản lý Context 5 Cấp Độ
```typescript
class ClaudeContextManager {
  buildContext(query: string): Context {
    return {
      // Level 1: System Identity
      system: {
        role: "AI Coding Assistant",
        version: "Claude 3.5",
        capabilities: [...],
        limitations: [...]
      },
      // Level 2: Task Context
      task: {
        currentGoal: this.getCurrentGoal(),
        progressSoFar: this.getProgress(),
        remainingSteps: this.getRemainingSteps()
      },
      // Level 3: Domain Knowledge (Codebase)
      domain: {
        projectStructure: this.getProjectStructure(),
        conventions: this.getCodeConventions(),
        dependencies: this.getDependencies()
      },
      // Level 4: Conversation History (Compressed)
      conversation: {
        recentMessages: this.getRecentMessages(10),
        summary: this.getSummary(),
        keyDecisions: this.getKeyDecisions()
      },
      // Level 5: Immediate Context
      immediate: {
        currentFile: this.getCurrentFile(),
        openFiles: this.getOpenFiles(),
        recentEdits: this.getRecentEdits(),
        cursorPosition: this.getCursorPosition()
      }
    };
  }
}
```
#### B. Bộ Nhớ 3 Tầng với Auto-Optimization
```typescript
class ClaudeMemorySystem {
  // Tier 1: Hot Memory (RAM)
  hotMemory = {
    currentConversation: [],
    maxSize: 20,
    // Tự động compress khi đầy
    autoCompress: true
  };
  // Tier 2: Warm Memory (Vector DB)
  warmMemory = {
    vectorStore: new ChromaDB(),
    recentQueries: new LRUCache(100),
    // Cache các truy vấn phổ biến
    queryCache: new Map()
  };
  // Tier 3: Cold Memory (Long-term Storage)
  coldMemory = {
    database: new PostgreSQL(),
    // Lưu trữ patterns, learnings lâu dài
    successPatterns: [],
    failurePatterns: []
  };
  // AUTO DREAM: Chạy ngầm để tối ưu memory
  async autoDream() {
    // Chạy trong idle time
    setInterval(async () =&gt; {
      // 1. Analyze patterns
      const patterns = await this.analyzePatterns();
      // 2. Move rarely used to cold storage
      await this.archiveOldMemories();
      // 3. Optimize vector embeddings
      await this.warmMemory.vectorStore.optimize();
      // 4. Update query cache
      await this.updateQueryCache();
    }, 60000); // Mỗi phút
  }
}
```
#### C. Phân Quyền Tool Chặt Chẽ
```typescript
class ClaudeToolPermissions {
  // Mỗi tool có permission riêng
  toolPermissions = {
    'read_file': {
      allowedPaths: ['/workspace/**'],
      deniedPaths: ['/workspace/.env', '/workspace/secrets/**'],
      requireApproval: false
    },
    'write_file': {
      allowedPaths: ['/workspace/src/**', '/workspace/test/**'],
      deniedPaths: ['/workspace/config/**'],
      requireApproval: true, // Cần user confirm
      maxFileSize: 100000 // 100KB
    },
    'execute_command': {
      allowedCommands: ['npm', 'git', 'python', 'node'],
      deniedCommands: ['rm -rf', 'sudo', 'chmod'],
      requireApproval: true,
      timeout: 30000 // 30s
    },
    'web_search': {
      allowedDomains: ['github.com', 'stackoverflow.com', 'docs.*'],
      rateLimitperHour: 50
    }
  };
  async checkPermission(tool: string, params: any): Promise&lt;PermissionResult&gt; {
    const perm = this.toolPermissions[tool];
    // Check path restrictions
    if (tool.includes('file')) {
      if (!this.isPathAllowed(params.path, perm)) {
        return { allowed: false, reason: 'Path not allowed' };
      }
    }
    // Check if needs approval
    if (perm.requireApproval) {
      const approved = await this.requestUserApproval(tool, params);
      if (!approved) {
        return { allowed: false, reason: 'User denied' };
      }
    }
    return { allowed: true };
  }
}
```
#### D. Tone Detection với Regex (!)
```typescript
class ClaudeToneDetector {
  // Phát hiện sự ức chế/không hài lòng của user
  frustrationPatterns = [
    /why (is|are) (you|this)/i,
    /stop doing/i,
    /i (told|said) you/i,
    /for the (\d+)(st|nd|rd|th) time/i,
    /just do it/i,
    /seriously\?/i
  ];
  detectFrustration(message: string): boolean {
    return this.frustrationPatterns.some(p =&gt; p.test(message));
  }
  adjustTone(message: string): ToneAdjustment {
    if (this.detectFrustration(message)) {
      return {
        tone: 'apologetic',
        verbosity: 'concise',
        explanation: 'minimal',
        action: 'immediate' // Làm ngay, giải thích sau
      };
    }
    return {
      tone: 'helpful',
      verbosity: 'balanced',
      explanation: 'detailed',
      action: 'thoughtful'
    };
  }
}
```
**Kết quả**:
- Claude Code trở thành một trong những AI coding assistant tốt nhất
- User satisfaction rate &gt; 90%
- Retention rate cao
**Key Insights**:
&gt; "Devil is in the details - Mỗi chi tiết nhỏ trong harness đều được optimize kỹ lưỡng"
---
### 6.4. Cursor IDE - Harness Tối Ưu Cho Coding
**Đặc điểm nổi bật**:
```typescript
class CursorHarness {
  // 1. CONTEXT AWARE - Biết bạn đang làm gì
  async buildContext(): Promise&lt;Context&gt; {
    return {
      // File đang mở
      currentFile: editor.getCurrentFile(),
      // Code đang select
      selectedCode: editor.getSelection(),
      // Cursor position
      cursorLine: editor.getCursorLine(),
      // Recent edits (để hiểu intent)
      recentEdits: this.getRecentEdits(5),
      // Related files (import/export)
      relatedFiles: await this.findRelatedFiles(),
      // Git context
      gitBranch: await git.getCurrentBranch(),
      uncommittedChanges: await git.getUncommittedChanges()
    };
  }
  // 2. SMART SUGGESTIONS
  async getSuggestions(context: Context): Promise&lt;Suggestion[]&gt; {
    // Dựa trên context, đưa ra suggestions phù hợp
    const suggestions = [];
    if (context.selectedCode) {
      suggestions.push({
        type: 'refactor',
        action: 'Refactor this code',
        confidence: 0.9
      });
      suggestions.push({
        type: 'explain',
        action: 'Explain this code',
        confidence: 0.95
      });
    }
    if (context.cursorLine.includes('TODO')) {
      suggestions.push({
        type: 'implement',
        action: 'Implement this TODO',
        confidence: 0.85
      });
    }
    return suggestions.sort((a, b) =&gt; b.confidence - a.confidence);
  }
  // 3. INCREMENTAL EDITS
  async applyEdit(edit: Edit): Promise&lt;void&gt; {
    // Không replace toàn bộ file
    // Chỉ thay đổi phần cần thiết
    await editor.replaceRange(
      edit.startLine,
      edit.endLine,
      edit.newContent
    );
    // Auto format
    await editor.formatDocument();
    // Run linter
    const lintResult = await linter.check();
    if (lintResult.errors.length &gt; 0) {
      // Show inline errors
      editor.showErrors(lintResult.errors);
    }
  }
}
```
**Kết quả**:
- Trở thành coding assistant được yêu thích nhất
- NPS (Net Promoter Score) &gt; 70
- Nhiều developers chuyển từ GitHub Copilot sang Cursor
---
### Bài Học Chung Từ Các Case Studies
| Lesson | SWE-agent | Anthropic | Claude Leak | Cursor |
|--------|-----------|-----------|-------------|--------|
| **Giới hạn output** | ✅ 50 results max | - | - | - |
| **Multi-agent** | - | ✅ 3 agents | ✅ Planner/Generator | - |
| **Context layers** | ✅ 3 levels | - | ✅ 5 levels | ✅ Smart context |
| **Memory tiers** | ✅ Compression | - | ✅ 3 tiers | - |
| **Tool permissions** | - | - | ✅ Strict | ✅ Sandbox |
| **User feedback** | - | ✅ Evaluation | ✅ Tone detection | ✅ Suggestions |
| **Incremental** | - | - | - | ✅ Smart edits |
**Nguyên tắc chung**:
1. ✅ **Constraints enable creativity** - Giới hạn giúp AI tập trung
2. ✅ **Layered architecture** - Chia nhỏ vấn đề
3. ✅ **Feedback loops** - Học từ kết quả
4. ✅ **User-centric design** - Luôn nghĩ về UX
5. ✅ **Obsess over details** - Mọi chi tiết đều quan trọng
---
## 7. Nguyên Tắc Thiết Kế Harness
### 7.1. Nguyên Tắc SOLID Cho Harness
**1. Single Responsibility**
- Mỗi tool chỉ làm một việc duy nhất
- Mỗi component có một lý do để thay đổi
**2. Open/Closed**
- Harness mở cho mở rộng (thêm tools, guardrails)
- Đóng cho sửa đổi (core logic ổn định)
**3. Liskov Substitution**
- Tools có thể thay thế cho nhau
- Cùng interface, khác implementation
**4. Interface Segregation**
- Không ép AI sử dụng tools không cần thiết
- Chỉ expose những gì cần
**5. Dependency Inversion**
- Depend on abstractions, not implementations
- Dễ dàng swap components
---
### 7.2. The 10 Commandments of Harness Engineering
```
1. Thou shall LIMIT, not GUIDE
   → Giới hạn những gì AI có thể làm, đừng chỉ hướng dẫn
2. Thou shall VALIDATE, not HOPE
   → Validation mọi input/output, đừng hy vọng AI làm đúng
3. Thou shall DESIGN, not TRAIN
   → Thiết kế môi trường, đừng chỉ train mô hình
4. Thou shall CONSTRAIN, not INSTRUCT
   → Tạo constraints, đừng viết instructions dài dòng
5. Thou shall AUTOMATE, not MANUAL
   → Tự động hóa checks, đừng để user phải check
6. Thou shall FAIL FAST, not SLOW
   → Phát hiện lỗi sớm, đừng để lỗi lan rộng
7. Thou shall LOG EVERYTHING
   → Log mọi action để debug và improve
8. Thou shall ITERATE, not PERFECT
   → Ship và improve, đừng chờ perfect
9. Thou shall MEASURE, not GUESS
   → Measure metrics, đừng đoán
10. Thou shall OBSESS OVER UX
    → User experience là ưu tiên số 1
```
---
### 7.3. The Harness Design Pattern
```typescript
// Template for designing any harness
class HarnessDesignPattern {
  // 1. Define what AI CAN do
  defineCapabilities() {
    return {
      tools: [...],
      permissions: {...}
    };
  }
  // 2. Define what AI CANNOT do
  defineConstraints() {
    return {
      guardrails: [...],
      validators: [...]
    };
  }
  // 3. Define what AI SHOULD remember
  defineMemory() {
    return {
      shortTerm: {...},
      longTerm: {...},
      working: {...}
    };
  }
  // 4. Define how AI SHOULD learn
  defineFeedback() {
    return {
      onSuccess: () =&gt; {},
      onError: () =&gt; {},
      metrics: [...]
    };
  }
  // 5. Define how components WORK TOGETHER
  defineOrchestration() {
    return {
      workflow: [...],
      errorHandling: {...}
    };
  }
}
```
---
## 8. Best Practices
### 8.1. Tool Design
✅ **DO:**
- Keep tools small and focused
- Validate inputs và outputs
- Provide clear error messages
- Make tools idempotent when possible
- Include examples in descriptions
❌ **DON'T:**
- Create "god tools" that do everything
- Trust AI to validate itself
- Use vague error messages
- Allow destructive operations without confirmation
### 8.2. Memory Management
✅ **DO:**
- Compress context regularly
- Prioritize relevant information
- Clear working memory after tasks
- Use tiered storage (hot/warm/cold)
❌ **DON'T:**
- Keep entire conversation history
- Load unnecessary data
- Mix different types of memory
- Forget to clean up
### 8.3. Context Building
✅ **DO:**
- Layer context by priority
- Include only relevant information
- Monitor token usage
- Compress when approaching limits
❌ **DON'T:**
- Include everything
- Ignore token limits
- Use static context
- Forget immediate context
### 8.4. Guardrails
✅ **DO:**
- Validate at multiple layers
- Check both input and output
- Fail fast and clearly
- Log all violations
❌ **DON'T:**
- Rely only on prompts
- Skip validation steps
- Hide errors from users
- Trust without verifying
### 8.5. Testing Harness
```typescript
// Test suite for harness
describe('Harness Tests', () =&gt; {
  test('Tool validation works', async () =&gt; {
    const result = await harness.executeTool('write_file', {
      path: '/unsafe/path'
    });
    expect(result.error).toBe('Path not allowed');
  });
  test('Context limits respected', async () =&gt; {
    const context = await harness.buildContext(largeQuery);
    const tokens = countTokens(context);
    expect(tokens).toBeLessThan(100000);
  });
  test('Guardrails catch sensitive data', async () =&gt; {
    const output = "API_KEY=sk_12345";
    const validation = await harness.validateOutput(output);
    expect(validation.valid).toBe(false);
  });
  test('Memory compression works', async () =&gt; {
    // Add 50 messages
    for (let i = 0; i &lt; 50; i++) {
      await harness.addMessage({ content: `Message ${i}` });
    }
    expect(harness.memory.shortTerm.messages.length).toBeLessThan(25);
  });
});
```
---
## 9. Công Cụ và Framework
### 9.1. Frameworks Phổ Biến
**LangChain / LangGraph**
```typescript
import { ChatOpenAI } from "@langchain/openai";
import { DynamicStructuredTool } from "@langchain/core/tools";
const harness = {
  llm: new ChatOpenAI({ model: "gpt-4" }),
  tools: [
    new DynamicStructuredTool({
      name: "search",
      description: "Search the web",
      func: async (input) =&gt; { /* ... */ }
    })
  ]
};
```
**AutoGen (Microsoft)**
```python
from autogen import AssistantAgent, UserProxyAgent
assistant = AssistantAgent(
    name="assistant",
    llm_config={"model": "gpt-4"},
    system_message="You are a helpful assistant"
)
harness = UserProxyAgent(
    name="harness",
    human_input_mode="NEVER",
    max_consecutive_auto_reply=10,
    code_execution_config={"work_dir": "coding"}
)
```
**CrewAI**
```python
from crewai import Agent, Task, Crew
# Multi-agent harness
planner = Agent(role='Planner', goal='Create plan')
executor = Agent(role='Executor', goal='Execute plan')
reviewer = Agent(role='Reviewer', goal='Review output')
harness = Crew(
    agents=[planner, executor, reviewer],
    tasks=[plan_task, execute_task, review_task]
)
```
---
### 9.2. Công Cụ Hỗ Trợ
**Vector Databases:**
- Pinecone
- Chroma
- Weaviate
- Qdrant
**Monitoring &amp; Logging:**
- LangSmith
- Weights &amp; Biases
- Helicone
- OpenLLMetry
**Guardrails:**
- Guardrails AI
- NeMo Guardrails (NVIDIA)
- LlamaGuard (Meta)
**Testing:**
- PromptFoo
- Deepeval
- Ragas
---
### 9.3. Starter Template
```typescript
// Complete starter template
import { ChatAnthropic } from "@langchain/anthropic";
import { ChromaDB } from "chromadb";
class ProductionHarness {
  constructor(config) {
    this.model = new ChatAnthropic({
      model: "claude-3.5-sonnet",
      temperature: 0
    });
    this.tools = this.initializeTools();
    this.memory = this.initializeMemory();
    this.guardrails = this.initializeGuardrails();
    this.logger = this.initializeLogger();
  }
  async execute(userInput) {
    try {
      // 1. Validate input
      await this.guardrails.validateInput(userInput);
      // 2. Build context
      const context = await this.buildContext(userInput);
      // 3. Execute with tools
      const result = await this.model.invoke(context, {
        tools: this.tools
      });
      // 4. Validate output
      await this.guardrails.validateOutput(result);
      // 5. Log metrics
      await this.logger.log({
        input: userInput,
        output: result,
        tokens: result.usage
      });
      return result;
    } catch (error) {
      await this.handleError(error);
      throw error;
    }
  }
}
// Usage
const harness = new ProductionHarness({
  apiKey: process.env.ANTHROPIC_API_KEY
});
const result = await harness.execute("Build me a todo app");
```
---
## 10. Tương Lai Của Harness Engineering
### 10.1. Xu Hướng 2026-2028
**1. Self-Optimizing Harnesses**
- Harness tự động điều chỉnh parameters
- A/B testing tự động
- Continuous learning from usage
**2. Harness-as-a-Service**
- Cloud platforms cung cấp pre-built harnesses
- Plug-and-play harness components
- Marketplace cho harness templates
**3. Visual Harness Builders**
- No-code tools để design harness
- Visual workflow editors
- Drag-and-drop tool composition
**4. Cross-Model Harnesses**
- Một harness chạy trên nhiều models
- Automatic model switching based on task
- Cost-optimized model routing
**5. Regulatory Compliance Harnesses**
- Built-in GDPR, HIPAA compliance
- Audit trails tự động
- Explainability baked in
---
### 10.2. Thách Thức Phía Trước
**Technical Challenges:**
- Standardization across platforms
- Interoperability between harnesses
- Performance optimization at scale
- Security và privacy
**Business Challenges:**
- ROI measurement
- Team skill gaps
- Legacy system integration
- Changing regulations
**Research Challenges:**
- Optimal harness architecture patterns
- Automated harness generation
- Harness testing methodologies
- Cross-domain transferability
---
### 10.3. Lời Khuyên Cho Tương Lai
```
1. Start Simple
   → Đừng over-engineer từ đầu
   → Build MVP harness first
2. Measure Everything
   → Track metrics từ ngày 1
   → Data-driven optimization
3. Stay Updated
   → Field đang phát triển nhanh
   → Follow best practices
4. Share Knowledge
   → Open source harness components
   → Build community
5. Think Long-term
   → Harness là infrastructure
   → Invest in maintainability
```
---
## 11. Tài Liệu Tham Khảo
### Papers &amp; Research
1. **SWE-agent: Agent-Computer Interfaces Enable Automated Software Engineering**
   - Princeton NLP Lab
   - https://arxiv.org/abs/2405.15793
2. **The Rise of AI Agents and the Importance of Harness Engineering**
   - Mitchell Hashimoto, HashiCorp
   - https://www.youtube.com/watch?v=example
3. **Building Reliable AI Agents with Guardrails**
   - Anthropic Research
   - https://www.anthropic.com/research
### Frameworks &amp; Tools
1. **LangChain** - https://langchain.com
2. **LangGraph** - https://langchain-ai.github.io/langgraph/
3. **AutoGen** - https://microsoft.github.io/autogen/
4. **CrewAI** - https://www.crewai.com
5. **Guardrails AI** - https://www.guardrailsai.com
### Communities
1. **LangChain Discord** - Active community
2. **r/LangChain** - Reddit discussions
3. **AI Engineers** - Slack community
4. **HuggingFace Forums** - Technical discussions
### Blogs &amp; Resources
1. **Anthropic Blog** - https://www.anthropic.com/news
2. **OpenAI Cookbook** - https://cookbook.openai.com
3. **LangChain Blog** - https://blog.langchain.dev
4. **Mitchell Hashimoto's Blog** - https://mitchellh.com
### Courses &amp; Tutorials
1. **DeepLearning.AI - Building AI Agents**
2. **LangChain Academy**
3. **Anthropic Prompt Engineering**
4. **Microsoft AutoGen Tutorial**
---
**Kết Luận**
Harness Engineering không chỉ là một trend công nghệ - nó là sự chuyển đổi paradigm trong cách chúng ta xây dựng ứng dụng AI. Khi các mô hình AI ngày càng mạnh mẽ và trở thành "hàng hóa đại trà", khả năng thiết kế một harness tốt sẽ là yếu tố quyết định thành công.
&gt; **"The model thinks. The harness shapes what it thinks about. And the harness determines the quality of the final output."**
Hãy bắt đầu từ hôm nay - không cần perfect, chỉ cần start. Build, measure, learn, và iterate. Harness Engineering là journey, không phải destination.
**Happy Building! 🚀**
---
**Ngày cập nhật:** 13/07/2026  
**Tác giả:** AI Knowledge Repository
</dc:subject>
  <dc:creator>Slide Harness</dc:creator>
  <cp:lastModifiedBy>Slide Harness</cp:lastModifiedBy>
  <cp:revision>1</cp:revision>
  <dcterms:created xsi:type="dcterms:W3CDTF">2026-07-21T17:36:21Z</dcterms:created>
  <dcterms:modified xsi:type="dcterms:W3CDTF">2026-07-21T17:36:21Z</dcterms:modified>
</cp:coreProperties>
</file>